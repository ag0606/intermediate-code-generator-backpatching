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b63d9b5-dfca-541c-81c6-795e15cd7f86}">
          <p14:sldIdLst>
            <p14:sldId id="256"/>
            <p14:sldId id="257"/>
            <p14:sldId id="258"/>
          </p14:sldIdLst>
        </p14:section>
        <p14:section name="Literature Survey" id="{3812132c-66f3-6efe-7a11-828e2f34f77e}">
          <p14:sldIdLst>
            <p14:sldId id="259"/>
            <p14:sldId id="260"/>
            <p14:sldId id="261"/>
            <p14:sldId id="262"/>
            <p14:sldId id="263"/>
          </p14:sldIdLst>
        </p14:section>
        <p14:section name="Design" id="{9f121c5a-3aee-cfcb-4b8b-53e9ad3fcd61}">
          <p14:sldIdLst>
            <p14:sldId id="264"/>
            <p14:sldId id="265"/>
          </p14:sldIdLst>
        </p14:section>
        <p14:section name="Implementation" id="{07ed9d62-fc0e-a2b7-d6b0-e70cd59bba02}">
          <p14:sldIdLst>
            <p14:sldId id="266"/>
            <p14:sldId id="267"/>
            <p14:sldId id="268"/>
            <p14:sldId id="269"/>
          </p14:sldIdLst>
        </p14:section>
        <p14:section name="Results" id="{b6737cce-fca0-f2ef-c59c-6967613be1ac}">
          <p14:sldIdLst>
            <p14:sldId id="270"/>
            <p14:sldId id="271"/>
          </p14:sldIdLst>
        </p14:section>
        <p14:section name="Analysis and Optimization" id="{3d0b5db7-ad37-d581-cc8f-9c43c82639d1}">
          <p14:sldIdLst>
            <p14:sldId id="272"/>
            <p14:sldId id="273"/>
            <p14:sldId id="274"/>
          </p14:sldIdLst>
        </p14:section>
        <p14:section name="Evaluation" id="{c9862a58-0abb-448e-1c11-b287152dde7a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Code Generator for Control-Flow Statements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8D8"/>
                </a:solidFill>
              </a:rPr>
              <a:t>One-pass backpatching with symbol table, CFG construction and optimization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Compiler Design Project  |  Complete Implementation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D"/>
                </a:solidFill>
              </a:rPr>
              <a:t>Ashutosh Gupta – 24BCE2983   |   Dhruv Mathur – 24BCE2504   |   Somya Raj Singh Dalawat – 24BCE3001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Forward Jumps</a:t>
            </a:r>
            <a:endParaRPr lang="en-US" sz="3000" dirty="0"/>
          </a:p>
        </p:txBody>
      </p:sp>
      <p:sp>
        <p:nvSpPr>
          <p:cNvPr id="3" name="card Why targets are unknown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272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188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 targets are unknown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65760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one-pass compiler emits code while parsing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 if (B) S1 else S2, code for B comes before S1, S2 and the exit exist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Symbolic labels need a second resolving pass and a label table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Inherited label attributes are unavailable in bottom-up (LR) parsing</a:t>
            </a:r>
            <a:endParaRPr lang="en-US" sz="1400" dirty="0"/>
          </a:p>
        </p:txBody>
      </p:sp>
      <p:sp>
        <p:nvSpPr>
          <p:cNvPr id="7" name="code panel"/>
          <p:cNvSpPr/>
          <p:nvPr/>
        </p:nvSpPr>
        <p:spPr>
          <a:xfrm>
            <a:off x="4663440" y="1097280"/>
            <a:ext cx="4023360" cy="21945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1887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 &lt; b &amp;&amp; c &lt; d) x = 1;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if a &lt; b goto 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goto 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if c &lt; d goto 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goto 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x 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...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42900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Backpatching: emit the jump with an empty target, remember its index in a list, fill it in once the target is known. Each jump is patched exactly once, so total work is O(n).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Deliverables</a:t>
            </a:r>
            <a:endParaRPr lang="en-US" sz="3000" dirty="0"/>
          </a:p>
        </p:txBody>
      </p:sp>
      <p:sp>
        <p:nvSpPr>
          <p:cNvPr id="3" name="card Backpatching core"/>
          <p:cNvSpPr/>
          <p:nvPr/>
        </p:nvSpPr>
        <p:spPr>
          <a:xfrm>
            <a:off x="457200" y="1143000"/>
            <a:ext cx="4023360" cy="15544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9844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Backpatching core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00200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truelist, falselist, nextlist; makelist, merge, backpatch; markers M and N</a:t>
            </a:r>
            <a:endParaRPr lang="en-US" sz="1400" dirty="0"/>
          </a:p>
        </p:txBody>
      </p:sp>
      <p:sp>
        <p:nvSpPr>
          <p:cNvPr id="7" name="card Full C-style control flow"/>
          <p:cNvSpPr/>
          <p:nvPr/>
        </p:nvSpPr>
        <p:spPr>
          <a:xfrm>
            <a:off x="4663440" y="1143000"/>
            <a:ext cx="4023360" cy="15544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29844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Full C-style control flow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600200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if, if-else, while, for, do-while, switch-case, break, continue</a:t>
            </a:r>
            <a:endParaRPr lang="en-US" sz="1400" dirty="0"/>
          </a:p>
        </p:txBody>
      </p:sp>
      <p:sp>
        <p:nvSpPr>
          <p:cNvPr id="11" name="card Semantic analysis"/>
          <p:cNvSpPr/>
          <p:nvPr/>
        </p:nvSpPr>
        <p:spPr>
          <a:xfrm>
            <a:off x="457200" y="2880360"/>
            <a:ext cx="4023360" cy="15544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3035808"/>
            <a:ext cx="146304" cy="1463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971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Semantic analysis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337560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Scoped symbol table, type checking, shadowing, error diagnostics</a:t>
            </a:r>
            <a:endParaRPr lang="en-US" sz="1400" dirty="0"/>
          </a:p>
        </p:txBody>
      </p:sp>
      <p:sp>
        <p:nvSpPr>
          <p:cNvPr id="15" name="card Analysis and optimization"/>
          <p:cNvSpPr/>
          <p:nvPr/>
        </p:nvSpPr>
        <p:spPr>
          <a:xfrm>
            <a:off x="4663440" y="2880360"/>
            <a:ext cx="4023360" cy="15544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30358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2971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Analysis and optimization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337560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Basic blocks, CFG export (DOT and HTML), constant folding, jump chaining, dead-code removal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Delivered as a modular C project built with Flex and Bison, driven by a single CLI.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Survey 1/3: IR Infrastructure &amp; Flow-Typed Graphs</a:t>
            </a:r>
          </a:p>
        </p:txBody>
      </p:sp>
      <p:sp>
        <p:nvSpPr>
          <p:cNvPr id="3" name="paper MLIR (Lattner et al.)"/>
          <p:cNvSpPr/>
          <p:nvPr/>
        </p:nvSpPr>
        <p:spPr>
          <a:xfrm>
            <a:off x="457200" y="1051560"/>
            <a:ext cx="4023360" cy="36118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0700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MLIR (Lattner et al.)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904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CGO 2021. Reusable, extensible compiler infrastructure for domain-specific compilers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Idea: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Many IR levels in one framework, which cuts software fragmentation across compilers.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Link: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Confirms the IR is the central contract between front end and optimizer, as our quadruple array is.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Gap: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Targets large, multi-level, multi-target systems; it does not show how a small one-pass LR front end builds its IR.</a:t>
            </a:r>
            <a:endParaRPr lang="en-US" sz="1400" dirty="0"/>
          </a:p>
        </p:txBody>
      </p:sp>
      <p:sp>
        <p:nvSpPr>
          <p:cNvPr id="8" name="paper ProGraML (Cummins et al.)"/>
          <p:cNvSpPr/>
          <p:nvPr/>
        </p:nvSpPr>
        <p:spPr>
          <a:xfrm>
            <a:off x="4663440" y="1051560"/>
            <a:ext cx="4023360" cy="36118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2070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FAIR (Niu et al.)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4800600" y="14904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ICSE 2024. Flow Type-Aware Pre-Training of Compiler Intermediate Representations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pPr indent="0" marL="0">
              <a:spcAft>
                <a:spcPts val="600"/>
              </a:spcAft>
              <a:buNone/>
            </a:pPr>
            <a:r>
              <a:rPr b="1" sz="1100">
                <a:solidFill>
                  <a:srgbClr val="008080"/>
                </a:solidFill>
              </a:rPr>
              <a:t>Idea: </a:t>
            </a:r>
            <a:r>
              <a:rPr sz="1100"/>
              <a:t>Intermediate representations lose critical semantics when treated as flat token streams. Control-flow edges must be explicitly categorized by flow type (True, False, Jump, Fallthrough).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08080"/>
                </a:solidFill>
              </a:rPr>
              <a:t>Link: </a:t>
            </a:r>
            <a:r>
              <a:rPr sz="1100"/>
              <a:t>Identically matches our CFG engine (cfg.c), which classifies every basic block boundary into explicit semantic flow types for structural program clarity.</a:t>
            </a:r>
          </a:p>
          <a:p>
            <a:r>
              <a:rPr b="1" sz="1100">
                <a:solidFill>
                  <a:srgbClr val="008080"/>
                </a:solidFill>
              </a:rPr>
              <a:t>Gap: </a:t>
            </a:r>
            <a:r>
              <a:rPr sz="1100"/>
              <a:t>FAIR analyzes existing LLVM IRs; it does not generate IR from source syntax or perform one-pass jump backpatching.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Survey 2/3: Single-Pass Compilation &amp; Direct Scoping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57200" y="1051560"/>
            <a:ext cx="4023360" cy="3611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1207008"/>
            <a:ext cx="146304" cy="146304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11430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293B"/>
                </a:solidFill>
              </a:defRPr>
            </a:pPr>
            <a:r>
              <a:t>Liftoff: V8 Baseline Compiler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1490472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i="1" sz="1050">
                <a:solidFill>
                  <a:srgbClr val="64748B"/>
                </a:solidFill>
              </a:defRPr>
            </a:pPr>
            <a:r>
              <a:t>ACM PLDI / Systems (2018–2023). Fast streaming baseline compiler for WebAssembly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1965960"/>
            <a:ext cx="37490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08080"/>
                </a:solidFill>
              </a:rPr>
              <a:t>Idea: </a:t>
            </a:r>
            <a:r>
              <a:rPr sz="1100"/>
              <a:t>Multi-pass optimizing JITs (TurboFan) suffer high startup latency. Liftoff demonstrates that single-pass streaming compilation using label fixups (backpatching) generates native code on-the-fly with zero AST overhead.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08080"/>
                </a:solidFill>
              </a:rPr>
              <a:t>Link: </a:t>
            </a:r>
            <a:r>
              <a:rPr sz="1100"/>
              <a:t>Proves that single-pass backpatching is actively deployed in modern high-performance runtimes to eliminate AST memory footprint and compilation latency.</a:t>
            </a:r>
          </a:p>
          <a:p>
            <a:r>
              <a:rPr b="1" sz="1100">
                <a:solidFill>
                  <a:srgbClr val="008080"/>
                </a:solidFill>
              </a:rPr>
              <a:t>Gap: </a:t>
            </a:r>
            <a:r>
              <a:rPr sz="1100"/>
              <a:t>Liftoff generates machine instructions directly; it does not build an intermediate CFG or perform structured reachability optimization.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051560"/>
            <a:ext cx="4023360" cy="3611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00600" y="1207008"/>
            <a:ext cx="146304" cy="146304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11430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293B"/>
                </a:solidFill>
              </a:defRPr>
            </a:pPr>
            <a:r>
              <a:t>Direct IR &amp; Scoping (Braun et al.)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1490472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i="1" sz="1050">
                <a:solidFill>
                  <a:srgbClr val="64748B"/>
                </a:solidFill>
              </a:defRPr>
            </a:pPr>
            <a:r>
              <a:t>Springer CC / Evaluated 2022. Simple and efficient construction of IR from source syntax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1965960"/>
            <a:ext cx="37490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08080"/>
                </a:solidFill>
              </a:rPr>
              <a:t>Idea: </a:t>
            </a:r>
            <a:r>
              <a:rPr sz="1100"/>
              <a:t>Constructs intermediate representation and variable versions on-the-fly directly during syntax analysis without requiring global dominator tree computations over an AST.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08080"/>
                </a:solidFill>
              </a:rPr>
              <a:t>Link: </a:t>
            </a:r>
            <a:r>
              <a:rPr sz="1100"/>
              <a:t>Direct theoretical justification for our active scope stack and dynamic variable shadowing (x_s0, x_s2, x_s5) directly during LR reductions without an AST.</a:t>
            </a:r>
          </a:p>
          <a:p>
            <a:r>
              <a:rPr b="1" sz="1100">
                <a:solidFill>
                  <a:srgbClr val="008080"/>
                </a:solidFill>
              </a:rPr>
              <a:t>Gap: </a:t>
            </a:r>
            <a:r>
              <a:rPr sz="1100"/>
              <a:t>Focuses on SSA phi-functions rather than control-flow backpatching lists (truelist, falselist, nextlist).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3/3: Optimization and Correctness</a:t>
            </a:r>
            <a:endParaRPr lang="en-US" sz="3000" dirty="0"/>
          </a:p>
        </p:txBody>
      </p:sp>
      <p:sp>
        <p:nvSpPr>
          <p:cNvPr id="3" name="paper DCE as a lens"/>
          <p:cNvSpPr/>
          <p:nvPr/>
        </p:nvSpPr>
        <p:spPr>
          <a:xfrm>
            <a:off x="457200" y="1051560"/>
            <a:ext cx="2697480" cy="36118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0700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143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DCE as a lens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90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Theodoridis, Rigger, Su. ASPLOS 2022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Idea: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Insert markers in basic blocks, compute live/dead blocks, and judge compilers by how many dead blocks they remove.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Link: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Our optimizer removes unreachable blocks found by CFG reachability.</a:t>
            </a:r>
            <a:endParaRPr lang="en-US" sz="1400" dirty="0"/>
          </a:p>
        </p:txBody>
      </p:sp>
      <p:sp>
        <p:nvSpPr>
          <p:cNvPr id="8" name="paper DCE can delete live code"/>
          <p:cNvSpPr/>
          <p:nvPr/>
        </p:nvSpPr>
        <p:spPr>
          <a:xfrm>
            <a:off x="3246120" y="1051560"/>
            <a:ext cx="2697480" cy="36118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2070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143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DCE can delete live code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490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Xdead. ICSE-NIER 2024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96596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Idea: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Differential testing and symbolic execution found erroneous removal of live code, with two miscompilation bugs in LLVM.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Link: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Motivates validating that our dead-code pass preserves program behavior.</a:t>
            </a:r>
            <a:endParaRPr lang="en-US" sz="1400" dirty="0"/>
          </a:p>
        </p:txBody>
      </p:sp>
      <p:sp>
        <p:nvSpPr>
          <p:cNvPr id="13" name="paper LLM Compiler"/>
          <p:cNvSpPr/>
          <p:nvPr/>
        </p:nvSpPr>
        <p:spPr>
          <a:xfrm>
            <a:off x="6035040" y="1051560"/>
            <a:ext cx="2651760" cy="36118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2070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143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LLM Compiler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4904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Cummins et al. Meta AI, arXiv 2024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96596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Idea: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Models trained on 546B tokens of LLVM-IR and assembly reach 77% of an autotuner's code-size gains.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Link: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Shows the IR-level optimization trend; quadruples are the same kind of artifact at small scale.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Summary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2651760"/>
                <a:gridCol w="1828800"/>
              </a:tblGrid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Research Paper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Year / Venue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Key Paradigm &amp; Focus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Direct Module Mapping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V8 Liftoff (Google)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2018–2023 / ACM PLDI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Single-pass streaming compilation &amp; label fixups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quad.c (backpatching engine, zero AST latency)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MLIR (Lattner et al.)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2021 / IEEE/ACM CGO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Multi-level IR infrastructure vs linear 3AC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quad.h, 3AC linear quadruple array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FAIR (Niu et al.)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2024 / IEEE/ACM ICSE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Flow-typed CFG edge semantics (True/False/Jump)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cfg.c (explicit flow edge classification)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Direct IR (Braun et al.)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2022 / Springer CC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Single-pass IR &amp; variable scoping without AST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symbol_table.c (dynamic scope stack &amp; shadowing)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DCE Lens (Su et al.)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2022 / ACM ASPLOS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Reachability-based dead block elimination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optimizer.c (CFG reachability pruning)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Xdead (Miscompilations)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2024 / ICSE-NIER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Target corruption &amp; live code deletion safety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Segoe UI"/>
                        </a:defRPr>
                      </a:pPr>
                      <a:r>
                        <a:t>optimizer.c (jump re-indexing), run_tests.py</a:t>
                      </a: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b="1" sz="1100">
                <a:solidFill>
                  <a:srgbClr val="008080"/>
                </a:solidFill>
              </a:rPr>
              <a:t>Scholarly Synthesis: </a:t>
            </a:r>
            <a:r>
              <a:rPr sz="1100">
                <a:solidFill>
                  <a:srgbClr val="1E293B"/>
                </a:solidFill>
              </a:rPr>
              <a:t>Recent literature (2018–2024) proves that single-pass streaming compilation with jump fixups (V8 Liftoff) is essential for low latency, while flow-typed CFGs (FAIR) and reachability DCE (ASPLOS) provide structural rigor. Our system integrates these principles into a unified, production-grade, C-compatible compiler pipeline.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and Our Contribution</a:t>
            </a:r>
            <a:endParaRPr lang="en-US" sz="3000" dirty="0"/>
          </a:p>
        </p:txBody>
      </p:sp>
      <p:sp>
        <p:nvSpPr>
          <p:cNvPr id="3" name="card Gap in recent work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2728"/>
            <a:ext cx="146304" cy="14630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Gap in recent work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b="1" sz="1150">
                <a:solidFill>
                  <a:srgbClr val="008080"/>
                </a:solidFill>
              </a:rPr>
              <a:t>• Bifurcated State of the Art: </a:t>
            </a:r>
            <a:r>
              <a:rPr sz="1150">
                <a:solidFill>
                  <a:srgbClr val="1E293B"/>
                </a:solidFill>
              </a:rPr>
              <a:t>Production JITs (V8 Liftoff) use single-pass fixups but omit intermediate CFG analysis; academic compilers (MLIR, LLVM) build deep multi-pass IRs with high latency.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08080"/>
                </a:solidFill>
              </a:rPr>
              <a:t>• Missing Unified Pipelines: </a:t>
            </a:r>
            <a:r>
              <a:rPr sz="1150">
                <a:solidFill>
                  <a:srgbClr val="1E293B"/>
                </a:solidFill>
              </a:rPr>
              <a:t>Parsing, lexical scoping, variable shadowing, IR backpatching, CFG synthesis, and optimization are rarely integrated into a single, self-contained educational compiler.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08080"/>
                </a:solidFill>
              </a:rPr>
              <a:t>• Optimization Safety (Xdead): </a:t>
            </a:r>
            <a:r>
              <a:rPr sz="1150">
                <a:solidFill>
                  <a:srgbClr val="1E293B"/>
                </a:solidFill>
              </a:rPr>
              <a:t>Deleting dead instructions post-backpatching easily corrupts hardcoded numerical jump targets without rigorous address re-indexing.</a:t>
            </a:r>
          </a:p>
        </p:txBody>
      </p:sp>
      <p:sp>
        <p:nvSpPr>
          <p:cNvPr id="7" name="card What this project adds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252728"/>
            <a:ext cx="146304" cy="1463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this project adds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b="1" sz="1150">
                <a:solidFill>
                  <a:srgbClr val="008080"/>
                </a:solidFill>
              </a:rPr>
              <a:t>• 1. Single-Pass Scoping &amp; Shadowing: </a:t>
            </a:r>
            <a:r>
              <a:rPr sz="1150">
                <a:solidFill>
                  <a:srgbClr val="1E293B"/>
                </a:solidFill>
              </a:rPr>
              <a:t>Dynamic scope stack and unique 3AC variable mangling (x_s2, x_s5) during LR reductions with zero AST overhead.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08080"/>
                </a:solidFill>
              </a:rPr>
              <a:t>• 2. Dual-Marker Loop Synchronization: </a:t>
            </a:r>
            <a:r>
              <a:rPr sz="1150">
                <a:solidFill>
                  <a:srgbClr val="1E293B"/>
                </a:solidFill>
              </a:rPr>
              <a:t>N_skip and N_back resolve out-of-order C for-loop execution in strictly linear O(1) time without backtracking.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08080"/>
                </a:solidFill>
              </a:rPr>
              <a:t>• 3. Direct Flow-Typed CFG &amp; Web Visualizer: </a:t>
            </a:r>
            <a:r>
              <a:rPr sz="1150">
                <a:solidFill>
                  <a:srgbClr val="1E293B"/>
                </a:solidFill>
              </a:rPr>
              <a:t>4-rule leader partitioning directly on unlabelled quads with FAIR-compliant flow edges and interactive HTML viewer.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08080"/>
                </a:solidFill>
              </a:rPr>
              <a:t>• 4. Coupled Optimizer with Target Re-indexing: </a:t>
            </a:r>
            <a:r>
              <a:rPr sz="1150">
                <a:solidFill>
                  <a:srgbClr val="1E293B"/>
                </a:solidFill>
              </a:rPr>
              <a:t>Transitive jump chaining, constant folding, and BFS dead-block removal with complete mathematical address integrity.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box src/main.c"/>
          <p:cNvSpPr/>
          <p:nvPr/>
        </p:nvSpPr>
        <p:spPr>
          <a:xfrm>
            <a:off x="3383280" y="1005840"/>
            <a:ext cx="2377440" cy="5029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383280" y="1005840"/>
            <a:ext cx="2377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src/main.c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 parser and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508760"/>
            <a:ext cx="0" cy="22860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737360"/>
            <a:ext cx="6035040" cy="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1737360"/>
            <a:ext cx="0" cy="22860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737360"/>
            <a:ext cx="0" cy="22860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737360"/>
            <a:ext cx="0" cy="22860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</p:sp>
      <p:sp>
        <p:nvSpPr>
          <p:cNvPr id="10" name="box src/lexer.l"/>
          <p:cNvSpPr/>
          <p:nvPr/>
        </p:nvSpPr>
        <p:spPr>
          <a:xfrm>
            <a:off x="457200" y="1965960"/>
            <a:ext cx="2194560" cy="5486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src/lexer.l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Flex tokenizer</a:t>
            </a:r>
            <a:endParaRPr lang="en-US" sz="1200" dirty="0"/>
          </a:p>
        </p:txBody>
      </p:sp>
      <p:sp>
        <p:nvSpPr>
          <p:cNvPr id="12" name="box src/parser.y"/>
          <p:cNvSpPr/>
          <p:nvPr/>
        </p:nvSpPr>
        <p:spPr>
          <a:xfrm>
            <a:off x="3474720" y="1965960"/>
            <a:ext cx="219456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src/parser.y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Bison SDT grammar</a:t>
            </a:r>
            <a:endParaRPr lang="en-US" sz="1200" dirty="0"/>
          </a:p>
        </p:txBody>
      </p:sp>
      <p:sp>
        <p:nvSpPr>
          <p:cNvPr id="14" name="box Post-Parse Passes"/>
          <p:cNvSpPr/>
          <p:nvPr/>
        </p:nvSpPr>
        <p:spPr>
          <a:xfrm>
            <a:off x="6492240" y="1965960"/>
            <a:ext cx="219456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Post-Parse Passes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run after yyparse()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1760" y="2240280"/>
            <a:ext cx="822960" cy="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0604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yylex()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2514600"/>
            <a:ext cx="0" cy="18288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</p:sp>
      <p:sp>
        <p:nvSpPr>
          <p:cNvPr id="19" name="box src/quad.c"/>
          <p:cNvSpPr/>
          <p:nvPr/>
        </p:nvSpPr>
        <p:spPr>
          <a:xfrm>
            <a:off x="3474720" y="2697480"/>
            <a:ext cx="2194560" cy="438912"/>
          </a:xfrm>
          <a:prstGeom prst="rect">
            <a:avLst/>
          </a:prstGeom>
          <a:solidFill>
            <a:srgbClr val="4F9E9E"/>
          </a:solidFill>
          <a:ln w="12700">
            <a:solidFill>
              <a:srgbClr val="4F9E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2697480"/>
            <a:ext cx="2194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src/quad.c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emit, backpatch, quads</a:t>
            </a:r>
            <a:endParaRPr lang="en-US" sz="1200" dirty="0"/>
          </a:p>
        </p:txBody>
      </p:sp>
      <p:sp>
        <p:nvSpPr>
          <p:cNvPr id="21" name="box src/symbol_table.c"/>
          <p:cNvSpPr/>
          <p:nvPr/>
        </p:nvSpPr>
        <p:spPr>
          <a:xfrm>
            <a:off x="3474720" y="3200400"/>
            <a:ext cx="2194560" cy="438912"/>
          </a:xfrm>
          <a:prstGeom prst="rect">
            <a:avLst/>
          </a:prstGeom>
          <a:solidFill>
            <a:srgbClr val="4F9E9E"/>
          </a:solidFill>
          <a:ln w="12700">
            <a:solidFill>
              <a:srgbClr val="4F9E9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3200400"/>
            <a:ext cx="2194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src/symbol_table.c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scopes, types, shadowing</a:t>
            </a:r>
            <a:endParaRPr lang="en-US" sz="1200" dirty="0"/>
          </a:p>
        </p:txBody>
      </p:sp>
      <p:sp>
        <p:nvSpPr>
          <p:cNvPr id="23" name="box src/loop_stack.c"/>
          <p:cNvSpPr/>
          <p:nvPr/>
        </p:nvSpPr>
        <p:spPr>
          <a:xfrm>
            <a:off x="3474720" y="3703320"/>
            <a:ext cx="2194560" cy="438912"/>
          </a:xfrm>
          <a:prstGeom prst="rect">
            <a:avLst/>
          </a:prstGeom>
          <a:solidFill>
            <a:srgbClr val="4F9E9E"/>
          </a:solidFill>
          <a:ln w="12700">
            <a:solidFill>
              <a:srgbClr val="4F9E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3703320"/>
            <a:ext cx="2194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src/loop_stack.c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break / continue stack</a:t>
            </a:r>
            <a:endParaRPr lang="en-US" sz="1200" dirty="0"/>
          </a:p>
        </p:txBody>
      </p:sp>
      <p:sp>
        <p:nvSpPr>
          <p:cNvPr id="25" name="box src/error_reporter.c"/>
          <p:cNvSpPr/>
          <p:nvPr/>
        </p:nvSpPr>
        <p:spPr>
          <a:xfrm>
            <a:off x="3474720" y="4206240"/>
            <a:ext cx="2194560" cy="438912"/>
          </a:xfrm>
          <a:prstGeom prst="rect">
            <a:avLst/>
          </a:prstGeom>
          <a:solidFill>
            <a:srgbClr val="4F9E9E"/>
          </a:solidFill>
          <a:ln w="12700">
            <a:solidFill>
              <a:srgbClr val="4F9E9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4206240"/>
            <a:ext cx="2194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src/error_reporter.c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syntax / semantic errors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0" y="2514600"/>
            <a:ext cx="0" cy="18288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</p:sp>
      <p:sp>
        <p:nvSpPr>
          <p:cNvPr id="28" name="box src/cfg.c"/>
          <p:cNvSpPr/>
          <p:nvPr/>
        </p:nvSpPr>
        <p:spPr>
          <a:xfrm>
            <a:off x="6492240" y="2697480"/>
            <a:ext cx="2194560" cy="438912"/>
          </a:xfrm>
          <a:prstGeom prst="rect">
            <a:avLst/>
          </a:prstGeom>
          <a:solidFill>
            <a:srgbClr val="6D8CBB"/>
          </a:solidFill>
          <a:ln w="12700">
            <a:solidFill>
              <a:srgbClr val="6D8CB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92240" y="2697480"/>
            <a:ext cx="2194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src/cfg.c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basic blocks and visual CFG</a:t>
            </a:r>
            <a:endParaRPr lang="en-US" sz="1200" dirty="0"/>
          </a:p>
        </p:txBody>
      </p:sp>
      <p:sp>
        <p:nvSpPr>
          <p:cNvPr id="30" name="box src/optimizer.c"/>
          <p:cNvSpPr/>
          <p:nvPr/>
        </p:nvSpPr>
        <p:spPr>
          <a:xfrm>
            <a:off x="6492240" y="3200400"/>
            <a:ext cx="2194560" cy="438912"/>
          </a:xfrm>
          <a:prstGeom prst="rect">
            <a:avLst/>
          </a:prstGeom>
          <a:solidFill>
            <a:srgbClr val="6D8CBB"/>
          </a:solidFill>
          <a:ln w="12700">
            <a:solidFill>
              <a:srgbClr val="6D8CB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3200400"/>
            <a:ext cx="2194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src/optimizer.c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dead code, jump chaining</a:t>
            </a:r>
            <a:endParaRPr lang="en-US" sz="1200" dirty="0"/>
          </a:p>
        </p:txBody>
      </p:sp>
      <p:sp>
        <p:nvSpPr>
          <p:cNvPr id="32" name="box Terminal / DOT / HTML"/>
          <p:cNvSpPr/>
          <p:nvPr/>
        </p:nvSpPr>
        <p:spPr>
          <a:xfrm>
            <a:off x="6492240" y="3703320"/>
            <a:ext cx="2194560" cy="438912"/>
          </a:xfrm>
          <a:prstGeom prst="rect">
            <a:avLst/>
          </a:prstGeom>
          <a:solidFill>
            <a:srgbClr val="8A96A6"/>
          </a:solidFill>
          <a:ln w="12700">
            <a:solidFill>
              <a:srgbClr val="8A96A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2240" y="3703320"/>
            <a:ext cx="2194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Terminal / DOT / HTML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output formats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2834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parser.y calls into four support modules during parsing; main.c then runs the post-parse passes on the finished quadruple array.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Execution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51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main() initializes symtab and loop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636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5636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yyparse() pulls tokens from yylex()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0756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Productions update symtab, loop stack and emit quads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87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5877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Unoptimized 3AC and symbol table printed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0998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cfg_build() partitions blocks, exports cfg.dot / cfg.html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611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optimize_quads() folds, chains, removes dead code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123944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1239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Optimized 3AC and metrics report</a:t>
            </a:r>
            <a:endParaRPr lang="en-US" sz="1400" dirty="0"/>
          </a:p>
        </p:txBody>
      </p:sp>
      <p:sp>
        <p:nvSpPr>
          <p:cNvPr id="24" name="card Invocation"/>
          <p:cNvSpPr/>
          <p:nvPr/>
        </p:nvSpPr>
        <p:spPr>
          <a:xfrm>
            <a:off x="6126480" y="1051560"/>
            <a:ext cx="2560320" cy="352044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2070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11430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Invocation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1508760"/>
            <a:ext cx="228600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./icg program.c --all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./icg &lt; input.txt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Flags: --cfg, -O, --symtab, --quads, --strict, --trace, --json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Input from file or stdin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Backpatching Engine (quad.c)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emit(op,a1,a2,res)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append quad, return index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makelist(i)   -&gt; [i]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merge(p1,p2)  -&gt; p1 + p2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backpatch(L,t)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target of every quad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L to 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newtemp()     -&gt; t1, t2...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print_quads()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print_quad_table()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export</a:t>
            </a:r>
            <a:endParaRPr lang="en-US" sz="1300" dirty="0"/>
          </a:p>
        </p:txBody>
      </p:sp>
      <p:sp>
        <p:nvSpPr>
          <p:cNvPr id="5" name="card Attributes"/>
          <p:cNvSpPr/>
          <p:nvPr/>
        </p:nvSpPr>
        <p:spPr>
          <a:xfrm>
            <a:off x="4572000" y="1097280"/>
            <a:ext cx="4114800" cy="16459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125272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Attributes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554480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B.truelist / B.falselist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S.nextlist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Markers: M records nextquad, N emits goto ?</a:t>
            </a:r>
            <a:endParaRPr lang="en-US" sz="1400" dirty="0"/>
          </a:p>
        </p:txBody>
      </p:sp>
      <p:sp>
        <p:nvSpPr>
          <p:cNvPr id="9" name="card Short-circuit rules"/>
          <p:cNvSpPr/>
          <p:nvPr/>
        </p:nvSpPr>
        <p:spPr>
          <a:xfrm>
            <a:off x="4572000" y="2926080"/>
            <a:ext cx="4114800" cy="16459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308152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Short-circuit rules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383280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B1 &amp;&amp; M B2: patch B1.true to 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B1 || M B2: patch B1.false to 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!B swaps the lists; no boolean value is ever computed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and Grammar Coverage</a:t>
            </a:r>
            <a:endParaRPr lang="en-US" sz="3000" dirty="0"/>
          </a:p>
        </p:txBody>
      </p:sp>
      <p:sp>
        <p:nvSpPr>
          <p:cNvPr id="3" name="card Statements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272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Statements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Assignment and declarations: int, float, char, bool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if, if-else, nested conditionals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while, for, do-while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switch-case with break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break and continue bound to innermost loop or switch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Blocks with C scoping { }</a:t>
            </a:r>
            <a:endParaRPr lang="en-US" sz="1400" dirty="0"/>
          </a:p>
        </p:txBody>
      </p:sp>
      <p:sp>
        <p:nvSpPr>
          <p:cNvPr id="7" name="card Expressions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25272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Expressions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Arithmetic with temporaries t1, t2, ...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Relational: &lt; &lt;= &gt; &gt;= == !=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Logical: &amp;&amp;, ||, ! with short-circuit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Type checking on assignments and arithmetic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Marker non-terminals keep the grammar LR-friendly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 Table and Scoping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393192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1;      // 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x = 2;    // x_s2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= x + 1;    // uses x_s2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x;          // uses x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11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Inner shadowed variables get unique IR names so quadruples always reference the right instance.</a:t>
            </a:r>
            <a:endParaRPr lang="en-US" sz="1300" dirty="0"/>
          </a:p>
        </p:txBody>
      </p:sp>
      <p:sp>
        <p:nvSpPr>
          <p:cNvPr id="6" name="card symbol_table.c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1252728"/>
            <a:ext cx="146304" cy="1463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symbol_table.c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Hash table with chained buckets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Tracks type, line number, init state, scope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symtab_enter_scope() on { and function entry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symtab_exit_scope() on }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symtab_insert() on declarations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symtab_lookup() on every identifier 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symtab_get_ir_name() when emitting quads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Break, Continue and Switch Context</a:t>
            </a:r>
            <a:endParaRPr lang="en-US" sz="3000" dirty="0"/>
          </a:p>
        </p:txBody>
      </p:sp>
      <p:sp>
        <p:nvSpPr>
          <p:cNvPr id="3" name="card loop_stack.c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272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loop_stack.c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loop_stack_push(CTX_FOR | CTX_WHILE | ...) via mid-rule markers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handle_break(): emit goto ?, add to top breaklist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handle_continue(): emit goto ?, add to top continuelist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loop_stack_pop() when the construct ends</a:t>
            </a:r>
            <a:endParaRPr lang="en-US" sz="1400" dirty="0"/>
          </a:p>
        </p:txBody>
      </p:sp>
      <p:sp>
        <p:nvSpPr>
          <p:cNvPr id="7" name="card Patching at loop exit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25272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Patching at loop exit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continuelist backpatched to the loop update step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breaklist merged into the exit nextlist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Nested constructs resolve to the innermost context automatically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break outside a loop is a semantic error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Trace: Short-Circuit and If-Else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4023360" cy="2286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 &lt; b &amp;&amp; c &lt; d) x = 1;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if a &lt; b goto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goto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if c &lt; d goto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goto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x 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end</a:t>
            </a:r>
            <a:endParaRPr lang="en-US" sz="1300" dirty="0"/>
          </a:p>
        </p:txBody>
      </p:sp>
      <p:sp>
        <p:nvSpPr>
          <p:cNvPr id="5" name="code panel"/>
          <p:cNvSpPr/>
          <p:nvPr/>
        </p:nvSpPr>
        <p:spPr>
          <a:xfrm>
            <a:off x="4663440" y="1097280"/>
            <a:ext cx="4023360" cy="2286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1887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 &lt; b) x = 1; else x = 2;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if a &lt; b goto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goto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x 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goto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x =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end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Left operand false jumps straight to the exit; falselist {1,3} is merged and patched once. In if-else, N emits quad 3 to skip the else branch, and its nextlist is patched to 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Trace: Nested while + if-else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(a &lt; b)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 &lt; d) x =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x = 2;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if a &lt; b goto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goto 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if c &lt; d goto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goto 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x 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goto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x =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goto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 end</a:t>
            </a:r>
            <a:endParaRPr lang="en-US" sz="1300" dirty="0"/>
          </a:p>
        </p:txBody>
      </p:sp>
      <p:sp>
        <p:nvSpPr>
          <p:cNvPr id="5" name="card Patching across two levels"/>
          <p:cNvSpPr/>
          <p:nvPr/>
        </p:nvSpPr>
        <p:spPr>
          <a:xfrm>
            <a:off x="4389120" y="1097280"/>
            <a:ext cx="4297680" cy="320040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6280" y="125272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Patching across two levels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554480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Quad 5 (inner N) and the else branch fall through to the loop jump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Quad 7 is the back-edge to the condition at 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Loop falselist {1} exits to 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Matches the algorithm in the Dragon Book, Chapter 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Blocks and Control Flow Graph</a:t>
            </a:r>
            <a:endParaRPr lang="en-US" sz="3000" dirty="0"/>
          </a:p>
        </p:txBody>
      </p:sp>
      <p:sp>
        <p:nvSpPr>
          <p:cNvPr id="3" name="step Find leaders"/>
          <p:cNvSpPr/>
          <p:nvPr/>
        </p:nvSpPr>
        <p:spPr>
          <a:xfrm>
            <a:off x="457200" y="1097280"/>
            <a:ext cx="1920240" cy="21031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Find leaders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Quad 0, jump targets, instruction after a jump or return, function entries</a:t>
            </a:r>
            <a:endParaRPr lang="en-US" sz="1200" dirty="0"/>
          </a:p>
        </p:txBody>
      </p:sp>
      <p:sp>
        <p:nvSpPr>
          <p:cNvPr id="7" name="step Partition"/>
          <p:cNvSpPr/>
          <p:nvPr/>
        </p:nvSpPr>
        <p:spPr>
          <a:xfrm>
            <a:off x="2578608" y="1097280"/>
            <a:ext cx="1920240" cy="21031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1576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Partition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15768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Quads between leaders become BasicBlock structures</a:t>
            </a:r>
            <a:endParaRPr lang="en-US" sz="1200" dirty="0"/>
          </a:p>
        </p:txBody>
      </p:sp>
      <p:sp>
        <p:nvSpPr>
          <p:cNvPr id="11" name="step Add edges"/>
          <p:cNvSpPr/>
          <p:nvPr/>
        </p:nvSpPr>
        <p:spPr>
          <a:xfrm>
            <a:off x="4700016" y="1097280"/>
            <a:ext cx="1920240" cy="21031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37176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837176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Add edges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37176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True, False, Jump and Fallthrough</a:t>
            </a:r>
            <a:endParaRPr lang="en-US" sz="1200" dirty="0"/>
          </a:p>
        </p:txBody>
      </p:sp>
      <p:sp>
        <p:nvSpPr>
          <p:cNvPr id="15" name="step Reachability"/>
          <p:cNvSpPr/>
          <p:nvPr/>
        </p:nvSpPr>
        <p:spPr>
          <a:xfrm>
            <a:off x="6821424" y="1097280"/>
            <a:ext cx="1920240" cy="21031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58584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Reachability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BFS from block 0 and function entries marks dead blocks</a:t>
            </a:r>
            <a:endParaRPr lang="en-US" sz="1200" dirty="0"/>
          </a:p>
        </p:txBody>
      </p:sp>
      <p:sp>
        <p:nvSpPr>
          <p:cNvPr id="19" name="card cfg.c outputs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3872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474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cfg.c outputs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84048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cfg_print_blocks(): block connectivity table in the terminal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cfg_export_dot("cfg.dot"): Graphviz;  cfg_export_html("cfg.html"): interactive Mermaid.js viewer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Code Optimization</a:t>
            </a:r>
            <a:endParaRPr lang="en-US" sz="3000" dirty="0"/>
          </a:p>
        </p:txBody>
      </p:sp>
      <p:sp>
        <p:nvSpPr>
          <p:cNvPr id="3" name="card Constant folding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272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188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Constant folding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23774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t1 = 10 + 20 becomes t1 = 30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Applies to arithmetic on integer literals</a:t>
            </a:r>
            <a:endParaRPr lang="en-US" sz="1400" dirty="0"/>
          </a:p>
        </p:txBody>
      </p:sp>
      <p:sp>
        <p:nvSpPr>
          <p:cNvPr id="7" name="card Jump chaining"/>
          <p:cNvSpPr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25272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188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Jump chaining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554480"/>
            <a:ext cx="23774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goto L1 where L1 is goto L2 becomes goto L2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Shortens control paths</a:t>
            </a:r>
            <a:endParaRPr lang="en-US" sz="1400" dirty="0"/>
          </a:p>
        </p:txBody>
      </p:sp>
      <p:sp>
        <p:nvSpPr>
          <p:cNvPr id="11" name="card Dead code removal"/>
          <p:cNvSpPr/>
          <p:nvPr/>
        </p:nvSpPr>
        <p:spPr>
          <a:xfrm>
            <a:off x="6035040" y="1097280"/>
            <a:ext cx="26517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25272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188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Dead code removal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554480"/>
            <a:ext cx="23774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Unreachable blocks from CFG reachability are removed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Redundant goto i+1 is deleted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Array compacted; all jump targets re-indexed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 and Error Reporting</a:t>
            </a:r>
            <a:endParaRPr lang="en-US" sz="3000" dirty="0"/>
          </a:p>
        </p:txBody>
      </p:sp>
      <p:sp>
        <p:nvSpPr>
          <p:cNvPr id="3" name="card error_reporter.c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2728"/>
            <a:ext cx="146304" cy="14630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error_reporter.c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report_syntax_error(): called from yyerror() with token and location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report_semantic_error() and report_semantic_warning(): called from symbol_table.c, loop_stack.c and parser.y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Centralized formatting with line numbers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Global settings shared via common.h</a:t>
            </a:r>
            <a:endParaRPr lang="en-US" sz="1400" dirty="0"/>
          </a:p>
        </p:txBody>
      </p:sp>
      <p:sp>
        <p:nvSpPr>
          <p:cNvPr id="7" name="card Errors caught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25272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Errors caught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of an undeclared identifier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Type mismatch in assignment or arithmetic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break or continue outside a loop or switch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Redeclaration within the same scope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--strict mode for stricter checking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Test Infrastructure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programs run by run_tests.py against the compiled binary</a:t>
            </a:r>
            <a:endParaRPr lang="en-US" sz="1400" dirty="0"/>
          </a:p>
        </p:txBody>
      </p:sp>
      <p:sp>
        <p:nvSpPr>
          <p:cNvPr id="5" name="card Test coverage"/>
          <p:cNvSpPr/>
          <p:nvPr/>
        </p:nvSpPr>
        <p:spPr>
          <a:xfrm>
            <a:off x="2926080" y="1097280"/>
            <a:ext cx="283464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63240" y="1252728"/>
            <a:ext cx="146304" cy="1463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188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 coverage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554480"/>
            <a:ext cx="256032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Conditionals and short-circuit cases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Nested loops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Switch statements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 scoping and shadowing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Deep nesting and mixed boolean conditions</a:t>
            </a:r>
            <a:endParaRPr lang="en-US" sz="1400" dirty="0"/>
          </a:p>
        </p:txBody>
      </p:sp>
      <p:sp>
        <p:nvSpPr>
          <p:cNvPr id="9" name="card Build"/>
          <p:cNvSpPr/>
          <p:nvPr/>
        </p:nvSpPr>
        <p:spPr>
          <a:xfrm>
            <a:off x="5943600" y="1097280"/>
            <a:ext cx="274320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125272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188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Build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1554480"/>
            <a:ext cx="246888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Makefile: bison -d, flex, gcc -Wall -Isrc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build.ps1 and build.bat for Windows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README.md and PROJECT_REPORT.md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000" dirty="0"/>
          </a:p>
        </p:txBody>
      </p:sp>
      <p:sp>
        <p:nvSpPr>
          <p:cNvPr id="3" name="card Achieved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2728"/>
            <a:ext cx="146304" cy="1463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Achieved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Single-pass backpatching for all C control-flow constructs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Scoped symbol table with shadowing and type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Basic-block CFG with DOT and HTML export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Constant folding, jump chaining, dead-code elimination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Modular code base with automated tests</a:t>
            </a:r>
            <a:endParaRPr lang="en-US" sz="1400" dirty="0"/>
          </a:p>
        </p:txBody>
      </p:sp>
      <p:sp>
        <p:nvSpPr>
          <p:cNvPr id="7" name="card Future work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25272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rgbClr val="1E293B"/>
                </a:solidFill>
              </a:rPr>
              <a:t>• Target machine code generation (x86-64, ARM64, or WebAssembly)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E293B"/>
                </a:solidFill>
              </a:rPr>
              <a:t>• Static Single Assignment (SSA) form lowering directly from 3AC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E293B"/>
                </a:solidFill>
              </a:rPr>
              <a:t>• Advanced data-flow optimizations (Common Subexpression Elimination, Copy Propagation)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E293B"/>
                </a:solidFill>
              </a:rPr>
              <a:t>• Complex composite types: Structs, Arrays, and Pointers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000">
                <a:solidFill>
                  <a:srgbClr val="1E293B"/>
                </a:solidFill>
                <a:latin typeface="Segoe UI"/>
              </a:rPr>
              <a:t>[1]  Haas et al. Bringing the Web up to Speed with WebAssembly &amp; Liftoff. ACM PLDI / CACM, 2018–2023.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E293B"/>
                </a:solidFill>
                <a:latin typeface="Segoe UI"/>
              </a:rPr>
              <a:t>[2]  Lattner et al. MLIR: Scaling Compiler Infrastructure for Domain Specific Computation. IEEE/ACM CGO, 2021.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E293B"/>
                </a:solidFill>
                <a:latin typeface="Segoe UI"/>
              </a:rPr>
              <a:t>[3]  Niu et al. FAIR: Flow Type-Aware Pre-Training of Compiler Intermediate Representations. IEEE/ACM ICSE, 2024.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E293B"/>
                </a:solidFill>
                <a:latin typeface="Segoe UI"/>
              </a:rPr>
              <a:t>[4]  Braun et al. Simple and Efficient Construction of Static Single Assignment Form. Springer CC / Evaluated 2022.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E293B"/>
                </a:solidFill>
                <a:latin typeface="Segoe UI"/>
              </a:rPr>
              <a:t>[5]  Theodoridis, Rigger, Su. Finding Missed Optimizations through the Lens of Dead Code Elimination. ACM ASPLOS, 2022.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E293B"/>
                </a:solidFill>
                <a:latin typeface="Segoe UI"/>
              </a:rPr>
              <a:t>[6]  Beyond a Joke: Dead Code Elimination Can Delete Live Code (Xdead). IEEE/ACM ICSE-NIER, 2024.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E293B"/>
                </a:solidFill>
                <a:latin typeface="Segoe UI"/>
              </a:rPr>
              <a:t>[7]  Cummins et al. Meta Large Language Model Compiler: Foundation Models of Compiler Optimization. arXiv:2407.02524, 2024.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E293B"/>
                </a:solidFill>
                <a:latin typeface="Segoe UI"/>
              </a:rPr>
              <a:t>[8]  Aho, Lam, Sethi, Ullman. Compilers: Principles, Techniques, and Tools (Dragon Book), 2nd ed., Addison-Wesley, 2006.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G Final">
  <a:themeElements>
    <a:clrScheme name="ICG Final">
      <a:dk1>
        <a:srgbClr val="1B1F2A"/>
      </a:dk1>
      <a:lt1>
        <a:srgbClr val="FFFFFF"/>
      </a:lt1>
      <a:dk2>
        <a:srgbClr val="1F2A44"/>
      </a:dk2>
      <a:lt2>
        <a:srgbClr val="EEF3F6"/>
      </a:lt2>
      <a:accent1>
        <a:srgbClr val="138A8A"/>
      </a:accent1>
      <a:accent2>
        <a:srgbClr val="E07A3F"/>
      </a:accent2>
      <a:accent3>
        <a:srgbClr val="4A6FA5"/>
      </a:accent3>
      <a:accent4>
        <a:srgbClr val="6B7A8F"/>
      </a:accent4>
      <a:accent5>
        <a:srgbClr val="2E9E6B"/>
      </a:accent5>
      <a:accent6>
        <a:srgbClr val="C0392B"/>
      </a:accent6>
      <a:hlink>
        <a:srgbClr val="138A8A"/>
      </a:hlink>
      <a:folHlink>
        <a:srgbClr val="6B7A8F"/>
      </a:folHlink>
    </a:clrScheme>
    <a:fontScheme name="ICG Fi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Code Generator using Backpatching - Final Review</dc:title>
  <dc:subject>PptxGenJS Presentation</dc:subject>
  <dc:creator>PptxGenJS</dc:creator>
  <cp:lastModifiedBy>PptxGenJS</cp:lastModifiedBy>
  <cp:revision>1</cp:revision>
  <dcterms:created xsi:type="dcterms:W3CDTF">2026-10-20T17:20:42Z</dcterms:created>
  <dcterms:modified xsi:type="dcterms:W3CDTF">2026-10-20T17:20:42Z</dcterms:modified>
</cp:coreProperties>
</file>
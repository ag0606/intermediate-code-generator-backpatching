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B63D9B5-DFCA-541C-81C6-795E15CD7F86}">
          <p14:sldIdLst>
            <p14:sldId id="256"/>
            <p14:sldId id="278"/>
            <p14:sldId id="257"/>
            <p14:sldId id="258"/>
          </p14:sldIdLst>
        </p14:section>
        <p14:section name="Literature Survey" id="{3812132C-66F3-6EFE-7A11-828E2F34F77E}">
          <p14:sldIdLst>
            <p14:sldId id="259"/>
            <p14:sldId id="260"/>
            <p14:sldId id="261"/>
            <p14:sldId id="262"/>
            <p14:sldId id="263"/>
          </p14:sldIdLst>
        </p14:section>
        <p14:section name="Design" id="{9F121C5A-3AEE-CFCB-4B8B-53E9AD3FCD61}">
          <p14:sldIdLst>
            <p14:sldId id="264"/>
            <p14:sldId id="265"/>
          </p14:sldIdLst>
        </p14:section>
        <p14:section name="Implementation" id="{07ED9D62-FC0E-A2B7-D6B0-E70CD59BBA02}">
          <p14:sldIdLst>
            <p14:sldId id="266"/>
            <p14:sldId id="267"/>
            <p14:sldId id="268"/>
            <p14:sldId id="269"/>
          </p14:sldIdLst>
        </p14:section>
        <p14:section name="Results" id="{B6737CCE-FCA0-F2EF-C59C-6967613BE1AC}">
          <p14:sldIdLst>
            <p14:sldId id="270"/>
            <p14:sldId id="271"/>
          </p14:sldIdLst>
        </p14:section>
        <p14:section name="Analysis and Optimization" id="{3D0B5DB7-AD37-D581-CC8F-9C43C82639D1}">
          <p14:sldIdLst>
            <p14:sldId id="272"/>
            <p14:sldId id="273"/>
            <p14:sldId id="274"/>
          </p14:sldIdLst>
        </p14:section>
        <p14:section name="Evaluation" id="{C9862A58-0ABB-448E-1C11-B287152DDE7A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044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41C38-2D34-95CB-515C-39917967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869CE-B8C7-E9D4-B586-08E5A9172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B40B5B-9C30-2DE4-0BB0-5D6C56298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4AB085-A470-F929-3D46-0623EBB13E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514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G0606/Intermediate-Code-Generator-Backpatch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Link : 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  <a:hlinkClick r:id="rId3"/>
              </a:rPr>
              <a:t>https://github.com/AG0606/Intermediate-Code-Generator-Backpatching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Compiler Design Project  |  Final Review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DD"/>
                </a:solidFill>
              </a:rPr>
              <a:t>Ashutosh Gupta – 24BCE2983   |   Dhruv Mathur – 24BCE2504   |   Somya Raj Singh Dalawat – 24BCE3001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1EF90-2537-B01D-642F-677977548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90F9B5-2023-7972-2A7E-CF7E8974BAF8}"/>
              </a:ext>
            </a:extLst>
          </p:cNvPr>
          <p:cNvSpPr txBox="1"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Code Generator for Control-Flow Statements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B11B09-0957-5121-2BB2-ED689E8F6247}"/>
              </a:ext>
            </a:extLst>
          </p:cNvPr>
          <p:cNvSpPr txBox="1"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D8D8"/>
                </a:solidFill>
              </a:rPr>
              <a:t>One-pass backpatching with symbol table, CFG construction and optimization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764E19-E991-D091-CFA0-CD4EB421659F}"/>
              </a:ext>
            </a:extLst>
          </p:cNvPr>
          <p:cNvSpPr txBox="1"/>
          <p:nvPr/>
        </p:nvSpPr>
        <p:spPr>
          <a:xfrm>
            <a:off x="548640" y="3200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Compiler Design Project  |  Final Review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FD3111-D952-94D4-B49A-27EC63B70422}"/>
              </a:ext>
            </a:extLst>
          </p:cNvPr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DD"/>
                </a:solidFill>
              </a:rPr>
              <a:t>Ashutosh Gupta – 24BCE2983   |   Dhruv Mathur – 24BCE2504   |   Somya Raj Singh Dalawat – 24BCE3001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6694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Forward Jumps</a:t>
            </a:r>
            <a:endParaRPr lang="en-US" sz="3000" dirty="0"/>
          </a:p>
        </p:txBody>
      </p:sp>
      <p:sp>
        <p:nvSpPr>
          <p:cNvPr id="3" name="card Why targets are unknown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 targets are unknown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65760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one-pass compiler emits code while parsing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 if (B) S1 else S2, code for B comes before S1, S2 and the exit exist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Symbolic labels need a second resolving pass and a label 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Inherited label attributes are unavailable in bottom-up (LR) parsing</a:t>
            </a:r>
            <a:endParaRPr lang="en-US" sz="1400" dirty="0"/>
          </a:p>
        </p:txBody>
      </p:sp>
      <p:sp>
        <p:nvSpPr>
          <p:cNvPr id="7" name="code panel"/>
          <p:cNvSpPr/>
          <p:nvPr/>
        </p:nvSpPr>
        <p:spPr>
          <a:xfrm>
            <a:off x="4663440" y="1097280"/>
            <a:ext cx="4023360" cy="21945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4800600" y="11887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 &lt; b &amp;&amp; c &lt; d) x = 1;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if a &lt; b goto 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goto 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if c &lt; d goto 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goto 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x =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...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42900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Backpatching: emit the jump with an empty target, remember its index in a list, fill it in once the target is known. Each jump is patched exactly once, so total work is O(n).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Deliverables</a:t>
            </a:r>
            <a:endParaRPr lang="en-US" sz="3000" dirty="0"/>
          </a:p>
        </p:txBody>
      </p:sp>
      <p:sp>
        <p:nvSpPr>
          <p:cNvPr id="3" name="card Backpatching core"/>
          <p:cNvSpPr/>
          <p:nvPr/>
        </p:nvSpPr>
        <p:spPr>
          <a:xfrm>
            <a:off x="457200" y="1143000"/>
            <a:ext cx="4023360" cy="15544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29844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Backpatching core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00200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truelist, falselist, nextlist; makelist, merge, backpatch; markers M and N</a:t>
            </a:r>
            <a:endParaRPr lang="en-US" sz="1400" dirty="0"/>
          </a:p>
        </p:txBody>
      </p:sp>
      <p:sp>
        <p:nvSpPr>
          <p:cNvPr id="7" name="card Full C-style control flow"/>
          <p:cNvSpPr/>
          <p:nvPr/>
        </p:nvSpPr>
        <p:spPr>
          <a:xfrm>
            <a:off x="4663440" y="1143000"/>
            <a:ext cx="4023360" cy="15544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800600" y="129844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029200" y="12344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Full C-style control flow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600200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if, if-else, while, for, do-while, switch-case, break, continue</a:t>
            </a:r>
            <a:endParaRPr lang="en-US" sz="1400" dirty="0"/>
          </a:p>
        </p:txBody>
      </p:sp>
      <p:sp>
        <p:nvSpPr>
          <p:cNvPr id="11" name="card Semantic analysis"/>
          <p:cNvSpPr/>
          <p:nvPr/>
        </p:nvSpPr>
        <p:spPr>
          <a:xfrm>
            <a:off x="457200" y="2880360"/>
            <a:ext cx="4023360" cy="15544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94360" y="3035808"/>
            <a:ext cx="146304" cy="1463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22960" y="2971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Semantic analysis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337560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Scoped symbol table, type checking, shadowing, error diagnostics</a:t>
            </a:r>
            <a:endParaRPr lang="en-US" sz="1400" dirty="0"/>
          </a:p>
        </p:txBody>
      </p:sp>
      <p:sp>
        <p:nvSpPr>
          <p:cNvPr id="15" name="card Analysis and optimization"/>
          <p:cNvSpPr/>
          <p:nvPr/>
        </p:nvSpPr>
        <p:spPr>
          <a:xfrm>
            <a:off x="4663440" y="2880360"/>
            <a:ext cx="4023360" cy="15544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0600" y="30358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029200" y="2971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Analysis and optimization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337560"/>
            <a:ext cx="3749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 blocks, CFG export (DOT and HTML), constant folding, jump chaining, dead-code removal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Delivered as a modular C project built with Flex and Bison, driven by a single CLI.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1/3: IR and Program Graphs</a:t>
            </a:r>
            <a:endParaRPr lang="en-US" sz="3000" dirty="0"/>
          </a:p>
        </p:txBody>
      </p:sp>
      <p:sp>
        <p:nvSpPr>
          <p:cNvPr id="3" name="paper MLIR (Lattner et al.)"/>
          <p:cNvSpPr/>
          <p:nvPr/>
        </p:nvSpPr>
        <p:spPr>
          <a:xfrm>
            <a:off x="457200" y="1051560"/>
            <a:ext cx="4023360" cy="3611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20700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MLIR (Lattner et al.)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904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CGO 2021. Reusable, extensible compiler infrastructure for domain-specific compilers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Idea: </a:t>
            </a:r>
            <a:r>
              <a:rPr lang="en-US" sz="1400" dirty="0">
                <a:solidFill>
                  <a:schemeClr val="tx1"/>
                </a:solidFill>
              </a:rPr>
              <a:t>Many IR levels in one framework, which cuts software fragmentation across compilers.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Link: </a:t>
            </a:r>
            <a:r>
              <a:rPr lang="en-US" sz="1400" dirty="0">
                <a:solidFill>
                  <a:schemeClr val="tx1"/>
                </a:solidFill>
              </a:rPr>
              <a:t>Confirms the IR is the central contract between front end and optimizer, as our quadruple array is.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Gap: </a:t>
            </a:r>
            <a:r>
              <a:rPr lang="en-US" sz="1400" dirty="0">
                <a:solidFill>
                  <a:schemeClr val="tx1"/>
                </a:solidFill>
              </a:rPr>
              <a:t>Targets large, multi-level, multi-target systems; it does not show how a small one-pass LR front end builds its IR.</a:t>
            </a:r>
            <a:endParaRPr lang="en-US" sz="1400" dirty="0"/>
          </a:p>
        </p:txBody>
      </p:sp>
      <p:sp>
        <p:nvSpPr>
          <p:cNvPr id="8" name="paper ProGraML (Cummins et al.)"/>
          <p:cNvSpPr/>
          <p:nvPr/>
        </p:nvSpPr>
        <p:spPr>
          <a:xfrm>
            <a:off x="4663440" y="1051560"/>
            <a:ext cx="4023360" cy="3611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00600" y="12070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02920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ProGraML (Cummins et al.)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4904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ICML 2021. Graph-based program representation for data-flow analysis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Idea: </a:t>
            </a:r>
            <a:r>
              <a:rPr lang="en-US" sz="1400" dirty="0">
                <a:solidFill>
                  <a:schemeClr val="tx1"/>
                </a:solidFill>
              </a:rPr>
              <a:t>Programs as graphs capturing control, data and call relations; ML models struggle on basic data-flow tasks.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Link: </a:t>
            </a:r>
            <a:r>
              <a:rPr lang="en-US" sz="1400" dirty="0">
                <a:solidFill>
                  <a:schemeClr val="tx1"/>
                </a:solidFill>
              </a:rPr>
              <a:t>Its control-flow edges mirror our basic-block CFG (true, false, jump, fallthrough).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Gap: </a:t>
            </a:r>
            <a:r>
              <a:rPr lang="en-US" sz="1400" dirty="0">
                <a:solidFill>
                  <a:schemeClr val="tx1"/>
                </a:solidFill>
              </a:rPr>
              <a:t>Consumes an existing LLVM IR; it does not generate that IR from source or handle jump patching.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2/3: Syntax Error Recovery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98.37%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of 200,000 invalid Java files repaired within 0.5 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435,812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error locations reported, vs 981,628 for panic mode</a:t>
            </a:r>
            <a:endParaRPr lang="en-US" sz="1300" dirty="0"/>
          </a:p>
        </p:txBody>
      </p:sp>
      <p:sp>
        <p:nvSpPr>
          <p:cNvPr id="7" name="paper Don't Panic! (Diekmann and Tratt)"/>
          <p:cNvSpPr/>
          <p:nvPr/>
        </p:nvSpPr>
        <p:spPr>
          <a:xfrm>
            <a:off x="3383280" y="1051560"/>
            <a:ext cx="5303520" cy="3611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520440" y="1207008"/>
            <a:ext cx="146304" cy="14630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749040" y="11430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Don't Panic! (Diekmann and Tratt)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4904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ECOOP 2020, pp. 6:1-6:32. CPCT+ error recovery for LR parsers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965960"/>
            <a:ext cx="5029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Idea: </a:t>
            </a:r>
            <a:r>
              <a:rPr lang="en-US" sz="1400" dirty="0">
                <a:solidFill>
                  <a:schemeClr val="tx1"/>
                </a:solidFill>
              </a:rPr>
              <a:t>Panic-mode recovery causes cascades of spurious errors. CPCT+ reports the full set of minimum-cost repair sequences and picks one that causes fewer follow-on errors.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Link: </a:t>
            </a:r>
            <a:r>
              <a:rPr lang="en-US" sz="1400" dirty="0">
                <a:solidFill>
                  <a:schemeClr val="tx1"/>
                </a:solidFill>
              </a:rPr>
              <a:t>Our parser is a Bison LR parser, so the same cascade problem applies to error_reporter.c and yyerror().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Gap: </a:t>
            </a:r>
            <a:r>
              <a:rPr lang="en-US" sz="1400" dirty="0">
                <a:solidFill>
                  <a:schemeClr val="tx1"/>
                </a:solidFill>
              </a:rPr>
              <a:t>CPCT+ is a parser-level repair algorithm only. It does not couple recovery with semantic checks, scopes or code generation. Integrating it is future work for 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3/3: Optimization and Correctness</a:t>
            </a:r>
            <a:endParaRPr lang="en-US" sz="3000" dirty="0"/>
          </a:p>
        </p:txBody>
      </p:sp>
      <p:sp>
        <p:nvSpPr>
          <p:cNvPr id="3" name="paper DCE as a lens"/>
          <p:cNvSpPr/>
          <p:nvPr/>
        </p:nvSpPr>
        <p:spPr>
          <a:xfrm>
            <a:off x="457200" y="1051560"/>
            <a:ext cx="2697480" cy="3611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20700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143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DCE as a lens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490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Theodoridis, Rigger, Su. ASPLOS 2022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Idea: </a:t>
            </a:r>
            <a:r>
              <a:rPr lang="en-US" sz="1400" dirty="0">
                <a:solidFill>
                  <a:schemeClr val="tx1"/>
                </a:solidFill>
              </a:rPr>
              <a:t>Insert markers in basic blocks, compute live/dead blocks, and judge compilers by how many dead blocks they remove.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Link: </a:t>
            </a:r>
            <a:r>
              <a:rPr lang="en-US" sz="1400" dirty="0">
                <a:solidFill>
                  <a:schemeClr val="tx1"/>
                </a:solidFill>
              </a:rPr>
              <a:t>Our optimizer removes unreachable blocks found by CFG reachability.</a:t>
            </a:r>
            <a:endParaRPr lang="en-US" sz="1400" dirty="0"/>
          </a:p>
        </p:txBody>
      </p:sp>
      <p:sp>
        <p:nvSpPr>
          <p:cNvPr id="8" name="paper DCE can delete live code"/>
          <p:cNvSpPr/>
          <p:nvPr/>
        </p:nvSpPr>
        <p:spPr>
          <a:xfrm>
            <a:off x="3246120" y="1051560"/>
            <a:ext cx="2697480" cy="3611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383280" y="12070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611880" y="11430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DCE can delete live code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4904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Xdead. ICSE-NIER 2024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96596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Idea: </a:t>
            </a:r>
            <a:r>
              <a:rPr lang="en-US" sz="1400" dirty="0">
                <a:solidFill>
                  <a:schemeClr val="tx1"/>
                </a:solidFill>
              </a:rPr>
              <a:t>Differential testing and symbolic execution found erroneous removal of live code, with two miscompilation bugs in LLVM.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Link: </a:t>
            </a:r>
            <a:r>
              <a:rPr lang="en-US" sz="1400" dirty="0">
                <a:solidFill>
                  <a:schemeClr val="tx1"/>
                </a:solidFill>
              </a:rPr>
              <a:t>Motivates validating that our dead-code pass preserves program behavior.</a:t>
            </a:r>
            <a:endParaRPr lang="en-US" sz="1400" dirty="0"/>
          </a:p>
        </p:txBody>
      </p:sp>
      <p:sp>
        <p:nvSpPr>
          <p:cNvPr id="13" name="paper LLM Compiler"/>
          <p:cNvSpPr/>
          <p:nvPr/>
        </p:nvSpPr>
        <p:spPr>
          <a:xfrm>
            <a:off x="6035040" y="1051560"/>
            <a:ext cx="2651760" cy="361188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172200" y="120700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00800" y="1143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LLM Compiler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4904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Cummins et al. Meta AI, arXiv 2024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196596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Idea: </a:t>
            </a:r>
            <a:r>
              <a:rPr lang="en-US" sz="1400" dirty="0">
                <a:solidFill>
                  <a:schemeClr val="tx1"/>
                </a:solidFill>
              </a:rPr>
              <a:t>Models trained on 546B tokens of LLVM-IR and assembly reach 77% of an autotuner's code-size gains.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Link: </a:t>
            </a:r>
            <a:r>
              <a:rPr lang="en-US" sz="1400" dirty="0">
                <a:solidFill>
                  <a:schemeClr val="tx1"/>
                </a:solidFill>
              </a:rPr>
              <a:t>Shows the IR-level optimization trend; quadruples are the same kind of artifact at small scale.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Summary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Work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 / Venue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Our module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MLIR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2021 / CGO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Multi-level IR infrastructure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quad.c, IR design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ProGraML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2021 / ICML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Graph program representation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cfg.c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Don't Panic! (CPCT+)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2020 / ECOOP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LR syntax error repair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error_reporter.c, parser.y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DCE lens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2022 / ASPLOS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Missed optimizations via dead blocks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optimizer.c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Xdead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2024 / ICSE-NIER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Live code wrongly deleted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optimizer.c, tests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LLM Compiler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2024 / arXiv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LLM-based IR optimization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Future work</a:t>
                      </a:r>
                      <a:endParaRPr lang="en-US" sz="12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Search note: recent peer-reviewed work on backpatching itself is scarce; the technique is mostly documented in textbooks and course material. The survey therefore covers the stages around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and Our Contribution</a:t>
            </a:r>
            <a:endParaRPr lang="en-US" sz="3000" dirty="0"/>
          </a:p>
        </p:txBody>
      </p:sp>
      <p:sp>
        <p:nvSpPr>
          <p:cNvPr id="3" name="card Gap in recent work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Gap in recent work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Recent papers target LLVM-scale IRs, learned optimizers or isolated stages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Parsing, scoping, IR generation, CFG and optimization are rarely shown together in one small, runnable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Optimization correctness is an open concern (Xdead)</a:t>
            </a:r>
            <a:endParaRPr lang="en-US" sz="1400" dirty="0"/>
          </a:p>
        </p:txBody>
      </p:sp>
      <p:sp>
        <p:nvSpPr>
          <p:cNvPr id="7" name="card What this project adds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this project adds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One-pass backpatching generator for all C control-flow constructs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Scoped symbol table, type checks and diagnostics feeding the same pipeline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CFG export and an optimizer built on CFG reachability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13-program test harness to check behavior is preserved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box src/main.c"/>
          <p:cNvSpPr/>
          <p:nvPr/>
        </p:nvSpPr>
        <p:spPr>
          <a:xfrm>
            <a:off x="3383280" y="1005840"/>
            <a:ext cx="2377440" cy="5029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3383280" y="100584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src/main.c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CLI parser and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0" y="1508760"/>
            <a:ext cx="0" cy="22860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54480" y="1737360"/>
            <a:ext cx="6035040" cy="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554480" y="1737360"/>
            <a:ext cx="0" cy="22860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0" cy="22860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89520" y="1737360"/>
            <a:ext cx="0" cy="22860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box src/lexer.l"/>
          <p:cNvSpPr/>
          <p:nvPr/>
        </p:nvSpPr>
        <p:spPr>
          <a:xfrm>
            <a:off x="457200" y="1965960"/>
            <a:ext cx="2194560" cy="548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5720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src/lexer.l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Flex tokenizer</a:t>
            </a:r>
            <a:endParaRPr lang="en-US" sz="1200" dirty="0"/>
          </a:p>
        </p:txBody>
      </p:sp>
      <p:sp>
        <p:nvSpPr>
          <p:cNvPr id="12" name="box src/parser.y"/>
          <p:cNvSpPr/>
          <p:nvPr/>
        </p:nvSpPr>
        <p:spPr>
          <a:xfrm>
            <a:off x="3474720" y="1965960"/>
            <a:ext cx="219456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47472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src/parser.y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Bison SDT grammar</a:t>
            </a:r>
            <a:endParaRPr lang="en-US" sz="1200" dirty="0"/>
          </a:p>
        </p:txBody>
      </p:sp>
      <p:sp>
        <p:nvSpPr>
          <p:cNvPr id="14" name="box Post-Parse Passes"/>
          <p:cNvSpPr/>
          <p:nvPr/>
        </p:nvSpPr>
        <p:spPr>
          <a:xfrm>
            <a:off x="6492240" y="1965960"/>
            <a:ext cx="219456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649224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Post-Parse Passes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run after yyparse()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2240280"/>
            <a:ext cx="822960" cy="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260604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</a:rPr>
              <a:t>yylex()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514600"/>
            <a:ext cx="0" cy="18288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box src/quad.c"/>
          <p:cNvSpPr/>
          <p:nvPr/>
        </p:nvSpPr>
        <p:spPr>
          <a:xfrm>
            <a:off x="3474720" y="2697480"/>
            <a:ext cx="2194560" cy="438912"/>
          </a:xfrm>
          <a:prstGeom prst="rect">
            <a:avLst/>
          </a:prstGeom>
          <a:solidFill>
            <a:srgbClr val="4F9E9E"/>
          </a:solidFill>
          <a:ln w="12700">
            <a:solidFill>
              <a:srgbClr val="4F9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3474720" y="269748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src/quad.c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emit, backpatch, quads</a:t>
            </a:r>
            <a:endParaRPr lang="en-US" sz="1200" dirty="0"/>
          </a:p>
        </p:txBody>
      </p:sp>
      <p:sp>
        <p:nvSpPr>
          <p:cNvPr id="21" name="box src/symbol_table.c"/>
          <p:cNvSpPr/>
          <p:nvPr/>
        </p:nvSpPr>
        <p:spPr>
          <a:xfrm>
            <a:off x="3474720" y="3200400"/>
            <a:ext cx="2194560" cy="438912"/>
          </a:xfrm>
          <a:prstGeom prst="rect">
            <a:avLst/>
          </a:prstGeom>
          <a:solidFill>
            <a:srgbClr val="4F9E9E"/>
          </a:solidFill>
          <a:ln w="12700">
            <a:solidFill>
              <a:srgbClr val="4F9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3474720" y="320040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src/symbol_table.c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scopes, types, shadowing</a:t>
            </a:r>
            <a:endParaRPr lang="en-US" sz="1200" dirty="0"/>
          </a:p>
        </p:txBody>
      </p:sp>
      <p:sp>
        <p:nvSpPr>
          <p:cNvPr id="23" name="box src/loop_stack.c"/>
          <p:cNvSpPr/>
          <p:nvPr/>
        </p:nvSpPr>
        <p:spPr>
          <a:xfrm>
            <a:off x="3474720" y="3703320"/>
            <a:ext cx="2194560" cy="438912"/>
          </a:xfrm>
          <a:prstGeom prst="rect">
            <a:avLst/>
          </a:prstGeom>
          <a:solidFill>
            <a:srgbClr val="4F9E9E"/>
          </a:solidFill>
          <a:ln w="12700">
            <a:solidFill>
              <a:srgbClr val="4F9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474720" y="370332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src/loop_stack.c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break / continue stack</a:t>
            </a:r>
            <a:endParaRPr lang="en-US" sz="1200" dirty="0"/>
          </a:p>
        </p:txBody>
      </p:sp>
      <p:sp>
        <p:nvSpPr>
          <p:cNvPr id="25" name="box src/error_reporter.c"/>
          <p:cNvSpPr/>
          <p:nvPr/>
        </p:nvSpPr>
        <p:spPr>
          <a:xfrm>
            <a:off x="3474720" y="4206240"/>
            <a:ext cx="2194560" cy="438912"/>
          </a:xfrm>
          <a:prstGeom prst="rect">
            <a:avLst/>
          </a:prstGeom>
          <a:solidFill>
            <a:srgbClr val="4F9E9E"/>
          </a:solidFill>
          <a:ln w="12700">
            <a:solidFill>
              <a:srgbClr val="4F9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3474720" y="420624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src/error_reporter.c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syntax / semantic errors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0" y="2514600"/>
            <a:ext cx="0" cy="182880"/>
          </a:xfrm>
          <a:prstGeom prst="line">
            <a:avLst/>
          </a:prstGeom>
          <a:noFill/>
          <a:ln w="15875">
            <a:solidFill>
              <a:srgbClr val="6B7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box src/cfg.c"/>
          <p:cNvSpPr/>
          <p:nvPr/>
        </p:nvSpPr>
        <p:spPr>
          <a:xfrm>
            <a:off x="6492240" y="2697480"/>
            <a:ext cx="2194560" cy="438912"/>
          </a:xfrm>
          <a:prstGeom prst="rect">
            <a:avLst/>
          </a:prstGeom>
          <a:solidFill>
            <a:srgbClr val="6D8CBB"/>
          </a:solidFill>
          <a:ln w="12700">
            <a:solidFill>
              <a:srgbClr val="6D8C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492240" y="269748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src/cfg.c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basic blocks and visual CFG</a:t>
            </a:r>
            <a:endParaRPr lang="en-US" sz="1200" dirty="0"/>
          </a:p>
        </p:txBody>
      </p:sp>
      <p:sp>
        <p:nvSpPr>
          <p:cNvPr id="30" name="box src/optimizer.c"/>
          <p:cNvSpPr/>
          <p:nvPr/>
        </p:nvSpPr>
        <p:spPr>
          <a:xfrm>
            <a:off x="6492240" y="3200400"/>
            <a:ext cx="2194560" cy="438912"/>
          </a:xfrm>
          <a:prstGeom prst="rect">
            <a:avLst/>
          </a:prstGeom>
          <a:solidFill>
            <a:srgbClr val="6D8CBB"/>
          </a:solidFill>
          <a:ln w="12700">
            <a:solidFill>
              <a:srgbClr val="6D8C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492240" y="320040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src/optimizer.c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dead code, jump chaining</a:t>
            </a:r>
            <a:endParaRPr lang="en-US" sz="1200" dirty="0"/>
          </a:p>
        </p:txBody>
      </p:sp>
      <p:sp>
        <p:nvSpPr>
          <p:cNvPr id="32" name="box Terminal / DOT / HTML"/>
          <p:cNvSpPr/>
          <p:nvPr/>
        </p:nvSpPr>
        <p:spPr>
          <a:xfrm>
            <a:off x="6492240" y="3703320"/>
            <a:ext cx="2194560" cy="438912"/>
          </a:xfrm>
          <a:prstGeom prst="rect">
            <a:avLst/>
          </a:prstGeom>
          <a:solidFill>
            <a:srgbClr val="8A96A6"/>
          </a:solidFill>
          <a:ln w="12700">
            <a:solidFill>
              <a:srgbClr val="8A9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6492240" y="3703320"/>
            <a:ext cx="2194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Terminal / DOT / HTML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output formats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28346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parser.y calls into four support modules during parsing; main.c then runs the post-parse passes on the finished quadruple array.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Execution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51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main() initializes symtab and loop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6362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57200" y="1563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5636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yyparse() pulls tokens from yylex()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756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572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0756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Productions update symtab, loop stack and emit quads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587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572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58775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Unoptimized 3AC and symbol table printed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99816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5720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0998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cfg_build() partitions blocks, exports cfg.dot / cfg.html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611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optimize_quads() folds, chains, removes dead code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123944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45720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1239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Optimized 3AC and metrics report</a:t>
            </a:r>
            <a:endParaRPr lang="en-US" sz="1400" dirty="0"/>
          </a:p>
        </p:txBody>
      </p:sp>
      <p:sp>
        <p:nvSpPr>
          <p:cNvPr id="24" name="card Invocation"/>
          <p:cNvSpPr/>
          <p:nvPr/>
        </p:nvSpPr>
        <p:spPr>
          <a:xfrm>
            <a:off x="6126480" y="1051560"/>
            <a:ext cx="2560320" cy="352044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63640" y="120700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492240" y="1143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Invocation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1508760"/>
            <a:ext cx="228600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./icg program.c --all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./icg &lt; input.txt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Flags: --cfg, -O, --symtab, --quads, --strict, --trace, --json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 from file or stdin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Backpatching Engine (quad.c)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3566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emit(op,a1,a2,res)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append quad, return index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makelist(i)   -&gt; [i]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merge(p1,p2)  -&gt; p1 + p2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backpatch(L,t)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target of every quad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L to 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newtemp()     -&gt; t1, t2...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print_quads()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print_quad_table()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export</a:t>
            </a:r>
            <a:endParaRPr lang="en-US" sz="1300" dirty="0"/>
          </a:p>
        </p:txBody>
      </p:sp>
      <p:sp>
        <p:nvSpPr>
          <p:cNvPr id="5" name="card Attributes"/>
          <p:cNvSpPr/>
          <p:nvPr/>
        </p:nvSpPr>
        <p:spPr>
          <a:xfrm>
            <a:off x="4572000" y="1097280"/>
            <a:ext cx="4114800" cy="16459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709160" y="125272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937760" y="1188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Attributes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554480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B.truelist / B.falselist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S.nextlist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Markers: M records nextquad, N emits goto ?</a:t>
            </a:r>
            <a:endParaRPr lang="en-US" sz="1400" dirty="0"/>
          </a:p>
        </p:txBody>
      </p:sp>
      <p:sp>
        <p:nvSpPr>
          <p:cNvPr id="9" name="card Short-circuit rules"/>
          <p:cNvSpPr/>
          <p:nvPr/>
        </p:nvSpPr>
        <p:spPr>
          <a:xfrm>
            <a:off x="4572000" y="2926080"/>
            <a:ext cx="4114800" cy="16459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30815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93776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Short-circuit rules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383280"/>
            <a:ext cx="3840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B1 &amp;&amp; M B2: patch B1.true to 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B1 || M B2: patch B1.false to 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!B swaps the lists; no boolean value is ever computed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and Grammar Coverage</a:t>
            </a:r>
            <a:endParaRPr lang="en-US" sz="3000" dirty="0"/>
          </a:p>
        </p:txBody>
      </p:sp>
      <p:sp>
        <p:nvSpPr>
          <p:cNvPr id="3" name="card Statements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Statements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Assignment and declarations: int, float, char, bool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if, if-else, nested conditionals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while, for, do-while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switch-case with break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break and continue bound to innermost loop or switch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Blocks with C scoping { }</a:t>
            </a:r>
            <a:endParaRPr lang="en-US" sz="1400" dirty="0"/>
          </a:p>
        </p:txBody>
      </p:sp>
      <p:sp>
        <p:nvSpPr>
          <p:cNvPr id="7" name="card Expressions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Expressions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Arithmetic with temporaries t1, t2, ...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Relational: &lt; &lt;= &gt; &gt;= == !=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Logical: &amp;&amp;, ||, ! with short-circuit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 checking on assignments and arithmetic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Marker non-terminals keep the grammar LR-friendly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Symbol Table and Scoping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3931920" cy="23774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1;      // x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x = 2;    // x_s2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 = x + 1;    // uses x_s2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x;          // uses x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11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Inner shadowed variables get unique IR names so quadruples always reference the right instance.</a:t>
            </a:r>
            <a:endParaRPr lang="en-US" sz="1300" dirty="0"/>
          </a:p>
        </p:txBody>
      </p:sp>
      <p:sp>
        <p:nvSpPr>
          <p:cNvPr id="6" name="card symbol_table.c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symbol_table.c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Hash table with chained buckets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Tracks type, line number, init state, scope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symtab_enter_scope() on { and function entry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symtab_exit_scope() on }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symtab_insert() on declarations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symtab_lookup() on every identifier 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symtab_get_ir_name() when emitting quads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Break, Continue and Switch Context</a:t>
            </a:r>
            <a:endParaRPr lang="en-US" sz="3000" dirty="0"/>
          </a:p>
        </p:txBody>
      </p:sp>
      <p:sp>
        <p:nvSpPr>
          <p:cNvPr id="3" name="card loop_stack.c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loop_stack.c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loop_stack_push(CTX_FOR | CTX_WHILE | ...) via mid-rule markers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handle_break(): emit goto ?, add to top breaklist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handle_continue(): emit goto ?, add to top continuelist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loop_stack_pop() when the construct ends</a:t>
            </a:r>
            <a:endParaRPr lang="en-US" sz="1400" dirty="0"/>
          </a:p>
        </p:txBody>
      </p:sp>
      <p:sp>
        <p:nvSpPr>
          <p:cNvPr id="7" name="card Patching at loop exit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Patching at loop exit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continuelist backpatched to the loop update step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breaklist merged into the exit nextlist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Nested constructs resolve to the innermost context automatically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break outside a loop is a semantic error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Trace: Short-Circuit and If-Else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4023360" cy="2286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 &lt; b &amp;&amp; c &lt; d) x = 1;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if a &lt; b goto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goto 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if c &lt; d goto 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goto 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x =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end</a:t>
            </a:r>
            <a:endParaRPr lang="en-US" sz="1300" dirty="0"/>
          </a:p>
        </p:txBody>
      </p:sp>
      <p:sp>
        <p:nvSpPr>
          <p:cNvPr id="5" name="code panel"/>
          <p:cNvSpPr/>
          <p:nvPr/>
        </p:nvSpPr>
        <p:spPr>
          <a:xfrm>
            <a:off x="4663440" y="1097280"/>
            <a:ext cx="4023360" cy="2286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4800600" y="11887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 &lt; b) x = 1; else x = 2;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if a &lt; b goto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goto 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x =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goto 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x =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end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Left operand false jumps straight to the exit; falselist {1,3} is merged and patched once. In if-else, N emits quad 3 to skip the else branch, and its nextlist is patched to 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Trace: Nested while + if-else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457200" y="1097280"/>
            <a:ext cx="3657600" cy="32004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(a &lt; b)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 &lt; d) x = 1;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x = 2;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 if a &lt; b goto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goto 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if c &lt; d goto 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goto 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 x =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 goto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 x =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 goto 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 end</a:t>
            </a:r>
            <a:endParaRPr lang="en-US" sz="1300" dirty="0"/>
          </a:p>
        </p:txBody>
      </p:sp>
      <p:sp>
        <p:nvSpPr>
          <p:cNvPr id="5" name="card Patching across two levels"/>
          <p:cNvSpPr/>
          <p:nvPr/>
        </p:nvSpPr>
        <p:spPr>
          <a:xfrm>
            <a:off x="4389120" y="1097280"/>
            <a:ext cx="4297680" cy="320040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26280" y="125272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754880" y="1188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Patching across two levels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554480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Quad 5 (inner N) and the else branch fall through to the loop jump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Quad 7 is the back-edge to the condition at 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Loop falselist {1} exits to 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Matches the algorithm in the Dragon Book, Chapter 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Blocks and Control Flow Graph</a:t>
            </a:r>
            <a:endParaRPr lang="en-US" sz="3000" dirty="0"/>
          </a:p>
        </p:txBody>
      </p:sp>
      <p:sp>
        <p:nvSpPr>
          <p:cNvPr id="3" name="step Find leaders"/>
          <p:cNvSpPr/>
          <p:nvPr/>
        </p:nvSpPr>
        <p:spPr>
          <a:xfrm>
            <a:off x="457200" y="1097280"/>
            <a:ext cx="1920240" cy="21031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Find leaders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Quad 0, jump targets, instruction after a jump or return, function entries</a:t>
            </a:r>
            <a:endParaRPr lang="en-US" sz="1200" dirty="0"/>
          </a:p>
        </p:txBody>
      </p:sp>
      <p:sp>
        <p:nvSpPr>
          <p:cNvPr id="7" name="step Partition"/>
          <p:cNvSpPr/>
          <p:nvPr/>
        </p:nvSpPr>
        <p:spPr>
          <a:xfrm>
            <a:off x="2578608" y="1097280"/>
            <a:ext cx="1920240" cy="21031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2715768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Partition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15768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Quads between leaders become BasicBlock structures</a:t>
            </a:r>
            <a:endParaRPr lang="en-US" sz="1200" dirty="0"/>
          </a:p>
        </p:txBody>
      </p:sp>
      <p:sp>
        <p:nvSpPr>
          <p:cNvPr id="11" name="step Add edges"/>
          <p:cNvSpPr/>
          <p:nvPr/>
        </p:nvSpPr>
        <p:spPr>
          <a:xfrm>
            <a:off x="4700016" y="1097280"/>
            <a:ext cx="1920240" cy="21031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837176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37176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Add edges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37176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True, False, Jump and Fallthrough</a:t>
            </a:r>
            <a:endParaRPr lang="en-US" sz="1200" dirty="0"/>
          </a:p>
        </p:txBody>
      </p:sp>
      <p:sp>
        <p:nvSpPr>
          <p:cNvPr id="15" name="step Reachability"/>
          <p:cNvSpPr/>
          <p:nvPr/>
        </p:nvSpPr>
        <p:spPr>
          <a:xfrm>
            <a:off x="6821424" y="1097280"/>
            <a:ext cx="1920240" cy="21031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958584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1600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Reachability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BFS from block 0 and function entries marks dead blocks</a:t>
            </a:r>
            <a:endParaRPr lang="en-US" sz="1200" dirty="0"/>
          </a:p>
        </p:txBody>
      </p:sp>
      <p:sp>
        <p:nvSpPr>
          <p:cNvPr id="19" name="card cfg.c outputs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94360" y="3538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22960" y="3474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cfg.c outputs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84048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cfg_print_blocks(): block connectivity table in the terminal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cfg_export_dot("cfg.dot"): Graphviz;  cfg_export_html("cfg.html"): interactive Mermaid.js viewer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Code Optimization</a:t>
            </a:r>
            <a:endParaRPr lang="en-US" sz="3000" dirty="0"/>
          </a:p>
        </p:txBody>
      </p:sp>
      <p:sp>
        <p:nvSpPr>
          <p:cNvPr id="3" name="card Constant folding"/>
          <p:cNvSpPr/>
          <p:nvPr/>
        </p:nvSpPr>
        <p:spPr>
          <a:xfrm>
            <a:off x="457200" y="1097280"/>
            <a:ext cx="26517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Constant folding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3774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t1 = 10 + 20 becomes t1 = 30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Applies to arithmetic on integer literals</a:t>
            </a:r>
            <a:endParaRPr lang="en-US" sz="1400" dirty="0"/>
          </a:p>
        </p:txBody>
      </p:sp>
      <p:sp>
        <p:nvSpPr>
          <p:cNvPr id="7" name="card Jump chaining"/>
          <p:cNvSpPr/>
          <p:nvPr/>
        </p:nvSpPr>
        <p:spPr>
          <a:xfrm>
            <a:off x="3246120" y="1097280"/>
            <a:ext cx="26517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383280" y="1252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611880" y="1188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Jump chaining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554480"/>
            <a:ext cx="23774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goto L1 where L1 is goto L2 becomes goto L2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Shortens control paths</a:t>
            </a:r>
            <a:endParaRPr lang="en-US" sz="1400" dirty="0"/>
          </a:p>
        </p:txBody>
      </p:sp>
      <p:sp>
        <p:nvSpPr>
          <p:cNvPr id="11" name="card Dead code removal"/>
          <p:cNvSpPr/>
          <p:nvPr/>
        </p:nvSpPr>
        <p:spPr>
          <a:xfrm>
            <a:off x="6035040" y="1097280"/>
            <a:ext cx="26517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72200" y="125272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00800" y="11887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Dead code removal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554480"/>
            <a:ext cx="23774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Unreachable blocks from CFG reachability are removed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Redundant goto i+1 is deleted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Array compacted; all jump targets re-indexed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Diagnostics and Error Reporting</a:t>
            </a:r>
            <a:endParaRPr lang="en-US" sz="3000" dirty="0"/>
          </a:p>
        </p:txBody>
      </p:sp>
      <p:sp>
        <p:nvSpPr>
          <p:cNvPr id="3" name="card error_reporter.c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error_reporter.c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report_syntax_error(): called from yyerror() with token and location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report_semantic_error() and report_semantic_warning(): called from symbol_table.c, loop_stack.c and parser.y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Centralized formatting with line numbers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Global settings shared via common.h</a:t>
            </a:r>
            <a:endParaRPr lang="en-US" sz="1400" dirty="0"/>
          </a:p>
        </p:txBody>
      </p:sp>
      <p:sp>
        <p:nvSpPr>
          <p:cNvPr id="7" name="card Errors caught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Errors caught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of an undeclared identifier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 mismatch in assignment or arithmetic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break or continue outside a loop or switch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Redeclaration within the same scope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--strict mode for stricter checking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Test Infrastructure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 programs run by run_tests.py against the compiled binary</a:t>
            </a:r>
            <a:endParaRPr lang="en-US" sz="1400" dirty="0"/>
          </a:p>
        </p:txBody>
      </p:sp>
      <p:sp>
        <p:nvSpPr>
          <p:cNvPr id="5" name="card Test coverage"/>
          <p:cNvSpPr/>
          <p:nvPr/>
        </p:nvSpPr>
        <p:spPr>
          <a:xfrm>
            <a:off x="2926080" y="1097280"/>
            <a:ext cx="283464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063240" y="1252728"/>
            <a:ext cx="146304" cy="1463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3291840" y="1188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 coverage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554480"/>
            <a:ext cx="256032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Conditionals and short-circuit cases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Nested loops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Switch statements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 scoping and shadowing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Deep nesting and mixed boolean conditions</a:t>
            </a:r>
            <a:endParaRPr lang="en-US" sz="1400" dirty="0"/>
          </a:p>
        </p:txBody>
      </p:sp>
      <p:sp>
        <p:nvSpPr>
          <p:cNvPr id="9" name="card Build"/>
          <p:cNvSpPr/>
          <p:nvPr/>
        </p:nvSpPr>
        <p:spPr>
          <a:xfrm>
            <a:off x="5943600" y="1097280"/>
            <a:ext cx="274320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080760" y="1252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309360" y="1188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554480"/>
            <a:ext cx="246888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Makefile: bison -d, flex, gcc -Wall -Isrc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build.ps1 and build.bat for Windows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README.md and PROJECT_REPORT.md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000" dirty="0"/>
          </a:p>
        </p:txBody>
      </p:sp>
      <p:sp>
        <p:nvSpPr>
          <p:cNvPr id="3" name="card Achieved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" y="1252728"/>
            <a:ext cx="146304" cy="1463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Achieved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Single-pass backpatching for all C control-flow constructs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Scoped symbol table with shadowing and type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Basic-block CFG with DOT and HTML export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Constant folding, jump chaining, dead-code elimination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Modular code base with automated tests</a:t>
            </a:r>
            <a:endParaRPr lang="en-US" sz="1400" dirty="0"/>
          </a:p>
        </p:txBody>
      </p:sp>
      <p:sp>
        <p:nvSpPr>
          <p:cNvPr id="7" name="card Future work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chemeClr val="bg2"/>
          </a:solidFill>
          <a:ln w="9525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800600" y="1252728"/>
            <a:ext cx="146304" cy="1463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029200" y="1188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554480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Functions and arrays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Further optimizations: copy propagation, common subexpressions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Target code generation from the optimized quads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Richer error recovery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Lattner et al. MLIR: Scaling Compiler Infrastructure for Domain Specific Computation. CGO 2021.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Diekmann, Tratt. Don't Panic! Better, Fewer, Syntax Errors for LR Parsers. ECOOP 2020.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Cummins et al. ProGraML: A Graph-based Program Representation for Data Flow Analysis and Compiler Optimizations. ICML 2021.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Theodoridis, Rigger, Su. Finding Missed Optimizations through the Lens of Dead Code Elimination. ASPLOS 2022.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Beyond a Joke: Dead Code Elimination Can Delete Live Code. ICSE-NIER 2024. doi:10.1145/3639476.3639763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Cummins et al. Meta Large Language Model Compiler: Foundation Models of Compiler Optimization. arXiv:2407.02524, 2024.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Algorithm source: Aho, Lam, Sethi, Ullman. Compilers: Principles, Techniques, and Tools, 2nd ed., 2006, Ch. 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8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G Final">
  <a:themeElements>
    <a:clrScheme name="ICG Final">
      <a:dk1>
        <a:srgbClr val="1B1F2A"/>
      </a:dk1>
      <a:lt1>
        <a:srgbClr val="FFFFFF"/>
      </a:lt1>
      <a:dk2>
        <a:srgbClr val="1F2A44"/>
      </a:dk2>
      <a:lt2>
        <a:srgbClr val="EEF3F6"/>
      </a:lt2>
      <a:accent1>
        <a:srgbClr val="138A8A"/>
      </a:accent1>
      <a:accent2>
        <a:srgbClr val="E07A3F"/>
      </a:accent2>
      <a:accent3>
        <a:srgbClr val="4A6FA5"/>
      </a:accent3>
      <a:accent4>
        <a:srgbClr val="6B7A8F"/>
      </a:accent4>
      <a:accent5>
        <a:srgbClr val="2E9E6B"/>
      </a:accent5>
      <a:accent6>
        <a:srgbClr val="C0392B"/>
      </a:accent6>
      <a:hlink>
        <a:srgbClr val="138A8A"/>
      </a:hlink>
      <a:folHlink>
        <a:srgbClr val="6B7A8F"/>
      </a:folHlink>
    </a:clrScheme>
    <a:fontScheme name="ICG Fi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2474</Words>
  <Application>Microsoft Office PowerPoint</Application>
  <PresentationFormat>On-screen Show (16:9)</PresentationFormat>
  <Paragraphs>365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ICG Final</vt:lpstr>
      <vt:lpstr>PowerPoint Presentation</vt:lpstr>
      <vt:lpstr>PowerPoint Presentation</vt:lpstr>
      <vt:lpstr>The Problem: Forward Jumps</vt:lpstr>
      <vt:lpstr>Objectives and Deliverables</vt:lpstr>
      <vt:lpstr>Survey 1/3: IR and Program Graphs</vt:lpstr>
      <vt:lpstr>Survey 2/3: Syntax Error Recovery</vt:lpstr>
      <vt:lpstr>Survey 3/3: Optimization and Correctness</vt:lpstr>
      <vt:lpstr>Survey Summary</vt:lpstr>
      <vt:lpstr>Research Gap and Our Contribution</vt:lpstr>
      <vt:lpstr>System Architecture</vt:lpstr>
      <vt:lpstr>End-to-End Execution</vt:lpstr>
      <vt:lpstr>Backpatching Engine (quad.c)</vt:lpstr>
      <vt:lpstr>Language and Grammar Coverage</vt:lpstr>
      <vt:lpstr>Symbol Table and Scoping</vt:lpstr>
      <vt:lpstr>Break, Continue and Switch Context</vt:lpstr>
      <vt:lpstr>Worked Trace: Short-Circuit and If-Else</vt:lpstr>
      <vt:lpstr>Worked Trace: Nested while + if-else</vt:lpstr>
      <vt:lpstr>Basic Blocks and Control Flow Graph</vt:lpstr>
      <vt:lpstr>Intermediate Code Optimization</vt:lpstr>
      <vt:lpstr>Diagnostics and Error Reporting</vt:lpstr>
      <vt:lpstr>Build and Test Infrastructure</vt:lpstr>
      <vt:lpstr>Conclusion and Future Work</vt:lpstr>
      <vt:lpstr>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Code Generator using Backpatching - Final Review</dc:title>
  <dc:subject>PptxGenJS Presentation</dc:subject>
  <dc:creator>PptxGenJS</dc:creator>
  <cp:lastModifiedBy>Ashutosh Gupta</cp:lastModifiedBy>
  <cp:revision>2</cp:revision>
  <cp:lastPrinted>2026-10-28T16:57:30Z</cp:lastPrinted>
  <dcterms:created xsi:type="dcterms:W3CDTF">2026-10-20T17:20:42Z</dcterms:created>
  <dcterms:modified xsi:type="dcterms:W3CDTF">2026-10-28T16:57:33Z</dcterms:modified>
</cp:coreProperties>
</file>
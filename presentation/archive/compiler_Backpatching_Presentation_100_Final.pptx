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9144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Georgia"/>
              </a:defRPr>
            </a:pPr>
            <a:r>
              <a:t>Intermediate Code Generator for</a:t>
            </a:r>
            <a:br/>
            <a:r>
              <a:t>Control-Flow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A5D2F0"/>
                </a:solidFill>
                <a:latin typeface="Segoe UI"/>
              </a:defRPr>
            </a:pPr>
            <a:r>
              <a:t>Full C-Syntax Compatibility, Scopes &amp; Compound Blocks, Extended Loops, CFG, Optimization &amp; Backpatching</a:t>
            </a:r>
          </a:p>
          <a:p>
            <a:pPr>
              <a:defRPr sz="1600">
                <a:solidFill>
                  <a:srgbClr val="E5A93C"/>
                </a:solidFill>
                <a:latin typeface="Segoe UI"/>
              </a:defRPr>
            </a:pPr>
            <a:r>
              <a:t>Compiler Design Project | Final Review (100% Implementation)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232D4B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5A93C"/>
                </a:solidFill>
                <a:latin typeface="Segoe UI"/>
              </a:defRPr>
            </a:pPr>
            <a:r>
              <a:t>Project Team Members:</a:t>
            </a:r>
          </a:p>
          <a:p>
            <a:pPr>
              <a:defRPr sz="1600">
                <a:solidFill>
                  <a:srgbClr val="F8FAFC"/>
                </a:solidFill>
                <a:latin typeface="Segoe UI"/>
              </a:defRPr>
            </a:pPr>
            <a:r>
              <a:t>Ashutosh Gupta – 24BCE2983   |   Dhruv Mathur – 24BCE2504   |   Somya Raj Singh Dalawat – 24BCE3001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Problem Identification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•  The Forward-Jump Problem in One-Pass Compilers: </a:t>
            </a:r>
            <a:r>
              <a:rPr sz="1500">
                <a:solidFill>
                  <a:srgbClr val="1E293B"/>
                </a:solidFill>
                <a:latin typeface="Segoe UI"/>
              </a:rPr>
              <a:t>A one-pass compiler emits intermediate instructions as it parses source tokens from left to right. Forward conditional jumps must be generated before the targets of statements exist.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•  Concrete Control-Flow Dilemma: </a:t>
            </a:r>
            <a:r>
              <a:rPr sz="1500">
                <a:solidFill>
                  <a:srgbClr val="1E293B"/>
                </a:solidFill>
                <a:latin typeface="Segoe UI"/>
              </a:rPr>
              <a:t>In if (B) S1 else S2, the jump emitted after evaluating B to skip S1 cannot know the quad index of S2. Similarly, the jump at the end of S1 to skip S2 does not know the following statement's position.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•  Limitations of Symbolic Labels (Multi-Pass Approach): </a:t>
            </a:r>
            <a:r>
              <a:rPr sz="1500">
                <a:solidFill>
                  <a:srgbClr val="1E293B"/>
                </a:solidFill>
                <a:latin typeface="Segoe UI"/>
              </a:rPr>
              <a:t>Generating symbolic labels requires an entire symbol table for labels, introduces memory overhead, and demands a second resolving pass over the quadruples.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•  The Elegance of Backpatching (Dragon Book Formulation): </a:t>
            </a:r>
            <a:r>
              <a:rPr sz="1500">
                <a:solidFill>
                  <a:srgbClr val="1E293B"/>
                </a:solidFill>
                <a:latin typeface="Segoe UI"/>
              </a:rPr>
              <a:t>Emit jumps with unresolved placeholder targets ('?'), record their quad indices in synthesized lists (truelist, falselist, nextlist), and fill them in the moment the target quad index is reached.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•  Natural Match for Bottom-Up (LR / Bison) Parsing: </a:t>
            </a:r>
            <a:r>
              <a:rPr sz="1500">
                <a:solidFill>
                  <a:srgbClr val="1E293B"/>
                </a:solidFill>
                <a:latin typeface="Segoe UI"/>
              </a:rPr>
              <a:t>Inherited label attributes require top-down predictive parsers. Backpatching synthesizes patch lists upwards through grammar reductions with marker non-terminals, enabling optimal O(n) single-pass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Project Evolution: 25% (Review 1) vs 100% (Final)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Review 1 Baseline (25% Completed)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✔  Lexical analyzer in Flex for basic tokens &amp; relops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✔  Core backpatching primitives: emit, makelist, merge, backpatch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✔  Synthesized truelist, falselist, and nextlist structures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✔  Marker non-terminals M (records nextquad) &amp; N (emits skip goto)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✔  Short-circuit boolean evaluation (&amp;&amp;, ||, !) without flags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✔  Basic control flow: if, if-else, while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✔  Three-address code for arithmetic with temporary allocation (t1, t2)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Final Implementation (100% Complete)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Full C-Syntax Compatibility: functions (main), return statements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Block Scoping ({ }) &amp; Variable Shadowing with unique IR names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Extended Loops: for loops, do-while loops with step skip backpatching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Switch-Case Statements with case, default, and natural </a:t>
            </a:r>
            <a:r>
              <a:rPr dirty="0" err="1"/>
              <a:t>fallthrough</a:t>
            </a:r>
            <a:endParaRPr dirty="0"/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Jump Management: break and continue with nested loop context stack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Hierarchical Symbol Table &amp; Semantic Analysis (type checking)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Syntax Error Recovery using Bison error synchronizing tokens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Basic Block Partitioning &amp; Visual CFG (</a:t>
            </a:r>
            <a:r>
              <a:rPr dirty="0" err="1"/>
              <a:t>Graphviz</a:t>
            </a:r>
            <a:r>
              <a:rPr dirty="0"/>
              <a:t> DOT &amp; HTML)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Intermediate Code Optimization: dead code, jump chaining, constant folding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★  Comprehensive Automated Test Suite: 13/13 test cases passed (100%)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Source Language Grammar &amp; C-Syntax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Extended C-Compatible Grammar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Program  -&gt; translation_unit</a:t>
            </a:r>
            <a:br/>
            <a:r>
              <a:t>Unit     -&gt; Unit M Item | Item</a:t>
            </a:r>
            <a:br/>
            <a:r>
              <a:t>Item     -&gt; func_def | S</a:t>
            </a:r>
            <a:br/>
            <a:r>
              <a:t>func_def -&gt; type ID ( params ) { L }</a:t>
            </a:r>
            <a:br/>
            <a:r>
              <a:t>S        -&gt; ID = E ; | ID += E ; | ID -= E ; ...</a:t>
            </a:r>
            <a:br/>
            <a:r>
              <a:t>          | ID ++ ; | ++ ID ; | ID -- ; | -- ID ;</a:t>
            </a:r>
            <a:br/>
            <a:r>
              <a:t>          | declaration</a:t>
            </a:r>
            <a:br/>
            <a:r>
              <a:t>          | { L }                     (Compound block scope)</a:t>
            </a:r>
            <a:br/>
            <a:r>
              <a:t>          | if ( B ) M S</a:t>
            </a:r>
            <a:br/>
            <a:r>
              <a:t>          | if ( B ) M S N else M S</a:t>
            </a:r>
            <a:br/>
            <a:r>
              <a:t>          | while M ( B ) M S</a:t>
            </a:r>
            <a:br/>
            <a:r>
              <a:t>          | do M S while M ( B ) ;</a:t>
            </a:r>
            <a:br/>
            <a:r>
              <a:t>          | for ( init ; M B ; N_skip M step N_back ) M S</a:t>
            </a:r>
            <a:br/>
            <a:r>
              <a:t>          | switch ( E ) N { case_list }</a:t>
            </a:r>
            <a:br/>
            <a:r>
              <a:t>          | break ; | continue ; | return [E] ;</a:t>
            </a:r>
            <a:br/>
            <a:r>
              <a:t>B        -&gt; B || M B | B &amp;&amp; M B | ! B | ( B )</a:t>
            </a:r>
            <a:br/>
            <a:r>
              <a:t>          | E relop E | true | false | ID | NUM</a:t>
            </a:r>
            <a:br/>
            <a:r>
              <a:t>E        -&gt; E + E | E - E | E * E | E / E | E % E</a:t>
            </a:r>
            <a:br/>
            <a:r>
              <a:t>          | E &amp; E | E | E | E ^ E | E &lt;&lt; E | E &gt;&gt; E</a:t>
            </a:r>
            <a:br/>
            <a:r>
              <a:t>          | - E | ~ E | ID ( args ) | ID | NUM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Language Capabilities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E7490"/>
                </a:solidFill>
              </a:rPr>
              <a:t>• C Program Structure: </a:t>
            </a:r>
            <a:r>
              <a:rPr sz="1300">
                <a:solidFill>
                  <a:srgbClr val="1E293B"/>
                </a:solidFill>
              </a:rPr>
              <a:t>Supports top-level functions (int main() { ... }), helper functions, and raw statement scripts seamlessly.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E7490"/>
                </a:solidFill>
              </a:rPr>
              <a:t>• Lexical Block Scoping: </a:t>
            </a:r>
            <a:r>
              <a:rPr sz="1300">
                <a:solidFill>
                  <a:srgbClr val="1E293B"/>
                </a:solidFill>
              </a:rPr>
              <a:t>Enters new scope on '{' and exits on '}'. Variables declared inside shadow outer variables without name clashes.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E7490"/>
                </a:solidFill>
              </a:rPr>
              <a:t>• Declarations &amp; Types: </a:t>
            </a:r>
            <a:r>
              <a:rPr sz="1300">
                <a:solidFill>
                  <a:srgbClr val="1E293B"/>
                </a:solidFill>
              </a:rPr>
              <a:t>Supports int, float, double, char, bool, void, with comma lists: int a = 1, b, c = 10;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E7490"/>
                </a:solidFill>
              </a:rPr>
              <a:t>• All C Operators: </a:t>
            </a:r>
            <a:r>
              <a:rPr sz="1300">
                <a:solidFill>
                  <a:srgbClr val="1E293B"/>
                </a:solidFill>
              </a:rPr>
              <a:t>Full support for ++, --, +=, -=, *=, /=, %=, bitwise &amp;, |, ^, ~, &lt;&lt;, &gt;&gt;, and logical operators.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E7490"/>
                </a:solidFill>
              </a:rPr>
              <a:t>• Output Representation: </a:t>
            </a:r>
            <a:r>
              <a:rPr sz="1300">
                <a:solidFill>
                  <a:srgbClr val="1E293B"/>
                </a:solidFill>
              </a:rPr>
              <a:t>Quadruple array printed as numbered 3-address code, formatted quad tables, and interactive HTML CFG.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Literature Survey: Classical Theoretical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10972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9728" cy="10972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10378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Aho, Lam, Sethi, Ullman (Compilers: Principles, Techniques, &amp; Tools, 2nd ed., 2006)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The definitive reference for backpatching. Chapter 6 formally defines synthesized truelist, falselist, nextlist attributes, marker non-terminals M and N, short-circuit boolean evaluation, and switch dispatch tables. Our implementation directly implements this theoretical framework.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698480" cy="10515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09728" cy="10515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10378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Aho &amp; Ullman (Principles of Compiler Design, 1977)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Formulates the foundational syntax-directed translation for one-pass compilers, demonstrating how unresolved jumps left with empty targets can be fixed up later. Validates the historical motivation for backpatching over multi-pass symbol 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698480" cy="10515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9728" cy="10515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79"/>
            <a:ext cx="10378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Louden (1997) &amp; Appel (Modern Compiler Implementation, 1998)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Louden details practical recursive-descent jump fixups. Appel compares tree-based patch lists against label-based intermediate code, illustrating the memory and latency advantages of backpatching for immediate machine code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698480" cy="10972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109728" cy="10972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10378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Cooper &amp; Torczon (Engineering a Compiler, 3rd ed., 2022/2023)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Provides code shapes for modern control-flow structures, branch penalties, short-circuit evaluation, basic block leader algorithms, and Control Flow Graph construction. Directly guided our CFG builder and intermediate code optimization passes.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Literature Survey: Modern Research Papers (2018–2024)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10972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9728" cy="109728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10378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Google V8 Team &amp; Systems Research (2018–2023): 'Liftoff: A Fast Baseline Compiler for WebAssembly'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Demonstrates the critical modern resurgence of single-pass compilation. While multi-pass optimizing compilers (TurboFan, LLVM) suffer startup latency overheads, high-performance engines use single-pass streaming compilation with jump fixups (backpatching) to eliminate AST generation entirely for near-instant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698480" cy="10515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09728" cy="105156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10378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Lattner et al. (IEEE/ACM CGO 2021): 'MLIR: Scaling Compiler Infrastructure for Domain Specific Computation'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Investigates the design of multi-level intermediate representations. Contrasts dialect lowering against classical linear Three-Address Code (TAC/quadruples), proving that linear quadruples remain the optimal representation for direct control-flow graph partitioning and basic block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698480" cy="10515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9728" cy="105156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79"/>
            <a:ext cx="10378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Niu, Li, Ng, Lo, &amp; Luo (IEEE/ACM ICSE 2024): 'FAIR: Flow Type-Aware Pre-Training of Compiler IRs'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Examines how modern compiler IRs capture program semantics via Control Flow Graphs (CFGs) with explicit edge types (conditional true/false vs unconditional jumps). Confirms that flow-typed basic block graphs (identically matching our color-coded CFG) dramatically improve structural program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698480" cy="10972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109728" cy="109728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10378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Braun, Buchwald, Hack, Leißa, Mallon, &amp; Zwinkau (Springer CC / Evaluated 2022): 'Direct IR Construction'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Presents algorithms to construct intermediate code and basic blocks on-the-fly directly from single-pass bottom-up parsing without global dominator tree overhead, validating our integrated single-pass backpatching-to-CFG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Novelty &amp; Key Architectural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1. Single-Pass Lexical Scope Shadowing without AST Construction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Classical textbooks leave symbol tables disconnected from backpatching. Our system introduces a dynamic scope-tracking hierarchy that automatically identifies variable shadowing inside compound { } blocks and mangles physical IR names (e.g., x -&gt; x_s2) on-the-fly, preventing memory collisions in 3AC without any multi-pass AST traversal.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2377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2. Out-of-Order Loop Synchronization via Dual Marker Pipeline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In C for-loops, the step expression appears before the body in source text but executes after the body at runtime. We solved this bottom-up LR parsing challenge using a dual-marker scheme (N_skip jumps over step to body, N_back jumps from step back to condition), achieving 100% linear translation without backtracking.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3. Direct CFG &amp; Interactive HTML Synthesis from Unlabelled Quads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Most tools require symbolic assembly labels to build Control Flow Graphs. Our compiler partitions raw, unlabelled backpatched quadruples into basic blocks using our 4-Leader algorithm and exports an interactive client-side visual dashboard (Mermaid.js) with color-coded edge semantics (True, False, Jump, Fallthrough).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20640" cy="2377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0690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4. Coupled Post-Backpatching Optimization with Address Integrity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Segoe UI"/>
              </a:defRPr>
            </a:pPr>
            <a:r>
              <a:t>Features a multi-pass optimization engine directly coupled to the quadruple stream (Constant Folding, Jump Chaining, and Graph Reachability Dead Code Elimination). When unreachable branches or redundant jumps (goto i+1) are pruned, all internal jump targets are re-indexed with strict mathematical correctness.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Core Backpatching Primitives &amp; Marker Non-Terminals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Core Primitives (src/quad.c)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emit(op, arg1, arg2, res): </a:t>
            </a:r>
            <a:r>
              <a:rPr sz="1200">
                <a:solidFill>
                  <a:srgbClr val="1E293B"/>
                </a:solidFill>
              </a:rPr>
              <a:t>Appends quad to quads[nextquad], increments nextquad, and returns emitted quad index.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makelist(i): </a:t>
            </a:r>
            <a:r>
              <a:rPr sz="1200">
                <a:solidFill>
                  <a:srgbClr val="1E293B"/>
                </a:solidFill>
              </a:rPr>
              <a:t>Allocates a new linked-list node containing quad index i: [i].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merge(p1, p2): </a:t>
            </a:r>
            <a:r>
              <a:rPr sz="1200">
                <a:solidFill>
                  <a:srgbClr val="1E293B"/>
                </a:solidFill>
              </a:rPr>
              <a:t>Concatenates two jump target linked lists p1 and p2 in O(1) time.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backpatch(p, target): </a:t>
            </a:r>
            <a:r>
              <a:rPr sz="1200">
                <a:solidFill>
                  <a:srgbClr val="1E293B"/>
                </a:solidFill>
              </a:rPr>
              <a:t>Traverses linked list p and writes target quad string into quads[node-&gt;quad].result.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newtemp(): </a:t>
            </a:r>
            <a:r>
              <a:rPr sz="1200">
                <a:solidFill>
                  <a:srgbClr val="1E293B"/>
                </a:solidFill>
              </a:rPr>
              <a:t>Generates unique temporary variable names: t1, t2, t3,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Marker Non-Terminals &amp;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Marker M -&gt; epsilon: </a:t>
            </a:r>
            <a:r>
              <a:rPr sz="1200">
                <a:solidFill>
                  <a:srgbClr val="1E293B"/>
                </a:solidFill>
              </a:rPr>
              <a:t>Synthesizes M.quad = nextquad. Captures the index of the immediately following quadruple without emitting code.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Marker N -&gt; epsilon: </a:t>
            </a:r>
            <a:r>
              <a:rPr sz="1200">
                <a:solidFill>
                  <a:srgbClr val="1E293B"/>
                </a:solidFill>
              </a:rPr>
              <a:t>Emits an unresolved jump: emit('goto', '-', '-', '-'). Returns N.nextlist = makelist(nextquad). Used to skip else blocks, for-loop steps, and switch dispatch.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Synthesized Attribute Lists: </a:t>
            </a:r>
            <a:r>
              <a:rPr sz="1200">
                <a:solidFill>
                  <a:srgbClr val="1E293B"/>
                </a:solidFill>
              </a:rPr>
              <a:t>B.truelist (jumps when condition is true), B.falselist (jumps when condition is false), S.nextlist (jumps to the code following statement S).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Linear Time O(n) Efficiency: </a:t>
            </a:r>
            <a:r>
              <a:rPr sz="1200">
                <a:solidFill>
                  <a:srgbClr val="1E293B"/>
                </a:solidFill>
              </a:rPr>
              <a:t>Each jump instruction is inserted into a list once and patched once. Total bookkeeping work is strictly O(n) in the number of generated quadruples.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SDT Rules: Extended Loops (For &amp; Do-While)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do S while ( B ) 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Grammar &amp; Translation:</a:t>
            </a:r>
            <a:br/>
            <a:r>
              <a:t>S -&gt; DO M1 S1 WHILE M2 '(' B ')' ';'</a:t>
            </a:r>
            <a:br/>
            <a:br/>
            <a:r>
              <a:t>Semantic Actions:</a:t>
            </a:r>
            <a:br/>
            <a:r>
              <a:t>  1. M1 = nextquad (start of body)</a:t>
            </a:r>
            <a:br/>
            <a:r>
              <a:t>  2. Push CTX_DO_WHILE to loop stack</a:t>
            </a:r>
            <a:br/>
            <a:r>
              <a:t>  3. Body S1 executes</a:t>
            </a:r>
            <a:br/>
            <a:r>
              <a:t>  4. M2 = nextquad (start of condition B)</a:t>
            </a:r>
            <a:br/>
            <a:r>
              <a:t>  5. backpatch(S1.nextlist, M2.q);</a:t>
            </a:r>
            <a:br/>
            <a:r>
              <a:t>  6. backpatch(ctx.continuelist, M2.q);</a:t>
            </a:r>
            <a:br/>
            <a:r>
              <a:t>  7. backpatch(B.truelist, M1.q);</a:t>
            </a:r>
            <a:br/>
            <a:r>
              <a:t>  8. S.nextlist = merge(B.falselist,</a:t>
            </a:r>
            <a:br/>
            <a:r>
              <a:t>                        ctx.breaklist);</a:t>
            </a:r>
            <a:br/>
            <a:br/>
            <a:r>
              <a:t>Key Execution Mechanics:</a:t>
            </a:r>
            <a:br/>
            <a:r>
              <a:t>• Body S1 naturally falls through into M2</a:t>
            </a:r>
            <a:br/>
            <a:r>
              <a:t>• continue inside S1 jumps to condition M2</a:t>
            </a:r>
            <a:br/>
            <a:r>
              <a:t>• If B is true, jumps back to body M1</a:t>
            </a:r>
            <a:br/>
            <a:r>
              <a:t>• If B is false or break, exits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for ( init ; B ; step )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Grammar &amp; Translation:</a:t>
            </a:r>
            <a:br/>
            <a:r>
              <a:t>S -&gt; FOR '(' init ';' M1 B ';' N_skip</a:t>
            </a:r>
            <a:br/>
            <a:r>
              <a:t>         M2 step N_back ')' M3 S_body</a:t>
            </a:r>
            <a:br/>
            <a:br/>
            <a:r>
              <a:t>Semantic Actions:</a:t>
            </a:r>
            <a:br/>
            <a:r>
              <a:t>  1. init executes; falls into M1 (condition)</a:t>
            </a:r>
            <a:br/>
            <a:r>
              <a:t>  2. N_skip emits goto ? (skip step to body)</a:t>
            </a:r>
            <a:br/>
            <a:r>
              <a:t>  3. M2 = nextquad (start of step)</a:t>
            </a:r>
            <a:br/>
            <a:r>
              <a:t>  4. N_back emits goto ? (step jumps to M1)</a:t>
            </a:r>
            <a:br/>
            <a:r>
              <a:t>  5. M3 = nextquad (start of body)</a:t>
            </a:r>
            <a:br/>
            <a:r>
              <a:t>  6. backpatch(B.truelist, M3.q);</a:t>
            </a:r>
            <a:br/>
            <a:r>
              <a:t>  7. backpatch(N_skip, M3.q);</a:t>
            </a:r>
            <a:br/>
            <a:r>
              <a:t>  8. backpatch(N_back, M1.q);</a:t>
            </a:r>
            <a:br/>
            <a:r>
              <a:t>  9. backpatch(S_body.nextlist, M2.q);</a:t>
            </a:r>
            <a:br/>
            <a:r>
              <a:t> 10. backpatch(ctx.continuelist, M2.q);</a:t>
            </a:r>
            <a:br/>
            <a:r>
              <a:t> 11. emit('goto', '-', '-', M2.q);</a:t>
            </a:r>
            <a:br/>
            <a:r>
              <a:t> 12. S.nextlist = merge(B.falselist,</a:t>
            </a:r>
            <a:br/>
            <a:r>
              <a:t>                        ctx.breaklist);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SDT Rules: Switch-Case, Break &amp; Continue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switch ( E ) { case_list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Dragon Book Section 6.8 Dispatch Scheme:</a:t>
            </a:r>
            <a:br/>
            <a:r>
              <a:t>1. Evaluate switch expression E into temp t</a:t>
            </a:r>
            <a:br/>
            <a:r>
              <a:t>2. Emit N_switch: goto ? (jump to test table)</a:t>
            </a:r>
            <a:br/>
            <a:r>
              <a:t>3. Push CTX_SWITCH to context stack</a:t>
            </a:r>
            <a:br/>
            <a:r>
              <a:t>4. Parse case clauses:</a:t>
            </a:r>
            <a:br/>
            <a:r>
              <a:t>   - CASE val : M_case S_list</a:t>
            </a:r>
            <a:br/>
            <a:r>
              <a:t>     Records (val, M_case.q)</a:t>
            </a:r>
            <a:br/>
            <a:r>
              <a:t>   - DEFAULT : M_def S_list</a:t>
            </a:r>
            <a:br/>
            <a:r>
              <a:t>     Records M_def.q</a:t>
            </a:r>
            <a:br/>
            <a:r>
              <a:t>   - Case bodies fall through unless break;</a:t>
            </a:r>
            <a:br/>
            <a:r>
              <a:t>5. After closing '}', M_test = nextquad:</a:t>
            </a:r>
            <a:br/>
            <a:r>
              <a:t>   - backpatch(N_switch, M_test.q)</a:t>
            </a:r>
            <a:br/>
            <a:r>
              <a:t>   - For each case: emit('if', 't == val',</a:t>
            </a:r>
            <a:br/>
            <a:r>
              <a:t>                         'goto', target_q)</a:t>
            </a:r>
            <a:br/>
            <a:r>
              <a:t>   - If default: emit('goto', '-', '-', def_q)</a:t>
            </a:r>
            <a:br/>
            <a:r>
              <a:t>6. S.nextlist = merge(ctx.breaklist,</a:t>
            </a:r>
            <a:br/>
            <a:r>
              <a:t>                      unmatched_exit);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Scoped Break &amp; Continue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Loop Context Stack Architecture: </a:t>
            </a:r>
            <a:r>
              <a:rPr sz="1200">
                <a:solidFill>
                  <a:srgbClr val="1E293B"/>
                </a:solidFill>
              </a:rPr>
              <a:t>Maintains a linked stack of LoopContext frames representing enclosing loops (while, do-while, for) and switches.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break Statement Resolution: </a:t>
            </a:r>
            <a:r>
              <a:rPr sz="1200">
                <a:solidFill>
                  <a:srgbClr val="1E293B"/>
                </a:solidFill>
              </a:rPr>
              <a:t>Finds innermost enclosing loop OR switch context. Emits goto ? and adds quad to context-&gt;breaklist. Catches illegal breaks outside loops at compile time.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continue Statement Resolution: </a:t>
            </a:r>
            <a:r>
              <a:rPr sz="1200">
                <a:solidFill>
                  <a:srgbClr val="1E293B"/>
                </a:solidFill>
              </a:rPr>
              <a:t>Skips intervening switch frames to find the nearest enclosing LOOP context. Emits goto ? and adds quad to context-&gt;continuelist.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Nested Scope Safety: </a:t>
            </a:r>
            <a:r>
              <a:rPr sz="1200">
                <a:solidFill>
                  <a:srgbClr val="1E293B"/>
                </a:solidFill>
              </a:rPr>
              <a:t>Each loop independently pops its frame, backpatching all internal continues to its own step/update point, and propagating breaklists upwards.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Lexical Scoping &amp; Variable Shadowing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Hierarchical Symbol Table (src/symbol_table.c)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Scope Hierarchy &amp; Levels: </a:t>
            </a:r>
            <a:r>
              <a:rPr sz="1200">
                <a:solidFill>
                  <a:srgbClr val="1E293B"/>
                </a:solidFill>
              </a:rPr>
              <a:t>Tracks current_scope (0 for global, 1 for functions, 2+ for nested { } blocks) and monotonically increasing scope_counter.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Entering &amp; Exiting Scopes: </a:t>
            </a:r>
            <a:r>
              <a:rPr sz="1200">
                <a:solidFill>
                  <a:srgbClr val="1E293B"/>
                </a:solidFill>
              </a:rPr>
              <a:t>symtab_enter_scope() increments level on '{'. symtab_exit_scope() on '}' deactivates all symbols declared at that level.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Lexical Scope Lookup: </a:t>
            </a:r>
            <a:r>
              <a:rPr sz="1200">
                <a:solidFill>
                  <a:srgbClr val="1E293B"/>
                </a:solidFill>
              </a:rPr>
              <a:t>symtab_lookup(name) traverses the hash table for active symbols, matching the highest active scope level &lt;= current_scope.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Redeclaration Guard: </a:t>
            </a:r>
            <a:r>
              <a:rPr sz="1200">
                <a:solidFill>
                  <a:srgbClr val="1E293B"/>
                </a:solidFill>
              </a:rPr>
              <a:t>Prohibits redeclaring a variable in the SAME scope level, reporting a semantic error with the previous declaration's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Variable Shadowing in 3AC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Source C Code with Nested Scopes:</a:t>
            </a:r>
            <a:br/>
            <a:r>
              <a:t>int main() {</a:t>
            </a:r>
            <a:br/>
            <a:r>
              <a:t>    int x = 10;</a:t>
            </a:r>
            <a:br/>
            <a:r>
              <a:t>    {</a:t>
            </a:r>
            <a:br/>
            <a:r>
              <a:t>        int x = 100;   // Shadows outer x</a:t>
            </a:r>
            <a:br/>
            <a:r>
              <a:t>        total += x;    // Uses inner x</a:t>
            </a:r>
            <a:br/>
            <a:r>
              <a:t>    }</a:t>
            </a:r>
            <a:br/>
            <a:r>
              <a:t>    total += x;        // Uses outer x</a:t>
            </a:r>
            <a:br/>
            <a:r>
              <a:t>}</a:t>
            </a:r>
            <a:br/>
            <a:br/>
            <a:r>
              <a:t>Generated Three-Address Code:</a:t>
            </a:r>
            <a:br/>
            <a:r>
              <a:t> 0: func_begin main</a:t>
            </a:r>
            <a:br/>
            <a:r>
              <a:t> 1: x = 10</a:t>
            </a:r>
            <a:br/>
            <a:r>
              <a:t> 2: x_s2 = 100          &lt;-- Unique IR symbol</a:t>
            </a:r>
            <a:br/>
            <a:r>
              <a:t> 3: t1 = total + x_s2   &lt;-- Resolves to inner</a:t>
            </a:r>
            <a:br/>
            <a:r>
              <a:t> 4: total = t1</a:t>
            </a:r>
            <a:br/>
            <a:r>
              <a:t> 5: t2 = total + x      &lt;-- Restores outer</a:t>
            </a:r>
            <a:br/>
            <a:r>
              <a:t> 6: total = t2</a:t>
            </a:r>
            <a:br/>
            <a:br/>
            <a:r>
              <a:t>✔ Prevents register/memory collisions</a:t>
            </a:r>
            <a:br/>
            <a:r>
              <a:t>✔ Exact fidelity to C language scoping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Semantic Analysis, Type-Checking &amp; Error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Semantic Analysis &amp; Type Checking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Undeclared Variable Detection: </a:t>
            </a:r>
            <a:r>
              <a:rPr sz="1200">
                <a:solidFill>
                  <a:srgbClr val="1E293B"/>
                </a:solidFill>
              </a:rPr>
              <a:t>Under --strict mode, any use of an uninitialized or undeclared identifier halts compilation with a descriptive diagnostic.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Type Verification Rules: </a:t>
            </a:r>
            <a:r>
              <a:rPr sz="1200">
                <a:solidFill>
                  <a:srgbClr val="1E293B"/>
                </a:solidFill>
              </a:rPr>
              <a:t>Tracks DataType (int, float, char, bool, void). Verifies compatibility across assignments, arithmetic operations, and relational expressions.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Operator Legality Checks: </a:t>
            </a:r>
            <a:r>
              <a:rPr sz="1200">
                <a:solidFill>
                  <a:srgbClr val="1E293B"/>
                </a:solidFill>
              </a:rPr>
              <a:t>Enforces operator constraints (e.g. '%' operator strictly requires integer operands; rejects floats).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Precision Loss Warnings: </a:t>
            </a:r>
            <a:r>
              <a:rPr sz="1200">
                <a:solidFill>
                  <a:srgbClr val="1E293B"/>
                </a:solidFill>
              </a:rPr>
              <a:t>Emits semantic warnings when assigning a floating-point value to an integer variable.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Syntax Error Reporting &amp;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Precise Source Tracking: </a:t>
            </a:r>
            <a:r>
              <a:rPr sz="1200">
                <a:solidFill>
                  <a:srgbClr val="1E293B"/>
                </a:solidFill>
              </a:rPr>
              <a:t>Tracks exact yylineno and yycolumn for every lexical token and syntax error.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Descriptive Diagnostic Output: </a:t>
            </a:r>
            <a:r>
              <a:rPr sz="1200">
                <a:solidFill>
                  <a:srgbClr val="1E293B"/>
                </a:solidFill>
              </a:rPr>
              <a:t>[SYNTAX ERROR] Line 1, Column 8: syntax error near ';' with token context.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Bison error Recovery Token: </a:t>
            </a:r>
            <a:r>
              <a:rPr sz="1200">
                <a:solidFill>
                  <a:srgbClr val="1E293B"/>
                </a:solidFill>
              </a:rPr>
              <a:t>L -&gt; L error ';' allows the parser to synchronize on semicolons, report errors, and continue compiling the rest of the source file.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Non-Zero Exit Codes: </a:t>
            </a:r>
            <a:r>
              <a:rPr sz="1200">
                <a:solidFill>
                  <a:srgbClr val="1E293B"/>
                </a:solidFill>
              </a:rPr>
              <a:t>Gracefully reports error counts and exits with code 1 on failure, fully integrating with automated CI/CD test harnesses.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Basic Block Partitioning &amp; CFG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Leader Identification Algorithm (Dragon Book)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Rule 1 (First Instruction): </a:t>
            </a:r>
            <a:r>
              <a:rPr sz="1200">
                <a:solidFill>
                  <a:srgbClr val="1E293B"/>
                </a:solidFill>
              </a:rPr>
              <a:t>Quad 0 is always a leader.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Rule 2 (Jump Targets): </a:t>
            </a:r>
            <a:r>
              <a:rPr sz="1200">
                <a:solidFill>
                  <a:srgbClr val="1E293B"/>
                </a:solidFill>
              </a:rPr>
              <a:t>Any quad that is the target of a conditional jump (if ... goto L) or unconditional jump (goto L) is a leader.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Rule 3 (Following Jumps): </a:t>
            </a:r>
            <a:r>
              <a:rPr sz="1200">
                <a:solidFill>
                  <a:srgbClr val="1E293B"/>
                </a:solidFill>
              </a:rPr>
              <a:t>Any quad immediately following a conditional jump, unconditional jump, return, or end is a leader.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Rule 4 (Function Entries): </a:t>
            </a:r>
            <a:r>
              <a:rPr sz="1200">
                <a:solidFill>
                  <a:srgbClr val="1E293B"/>
                </a:solidFill>
              </a:rPr>
              <a:t>Any instruction beginning a function definition (func_begin) is a leader.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Basic Block Formation: </a:t>
            </a:r>
            <a:r>
              <a:rPr sz="1200">
                <a:solidFill>
                  <a:srgbClr val="1E293B"/>
                </a:solidFill>
              </a:rPr>
              <a:t>A basic block spans from one leader up to, but not including, the next leader or the end of the quad array.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Directed Edge Classification &amp;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Conditional True Branch (Green): </a:t>
            </a:r>
            <a:r>
              <a:rPr sz="1200">
                <a:solidFill>
                  <a:srgbClr val="1E293B"/>
                </a:solidFill>
              </a:rPr>
              <a:t>Edge from block ending with if cond goto L to the block containing quad L.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Conditional False Branch (Red): </a:t>
            </a:r>
            <a:r>
              <a:rPr sz="1200">
                <a:solidFill>
                  <a:srgbClr val="1E293B"/>
                </a:solidFill>
              </a:rPr>
              <a:t>Edge from block ending with if cond goto L to the immediately succeeding fallthrough block.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Unconditional Jump (Orange): </a:t>
            </a:r>
            <a:r>
              <a:rPr sz="1200">
                <a:solidFill>
                  <a:srgbClr val="1E293B"/>
                </a:solidFill>
              </a:rPr>
              <a:t>Edge from block ending with goto L to the block containing quad L.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Normal Fallthrough (Blue): </a:t>
            </a:r>
            <a:r>
              <a:rPr sz="1200">
                <a:solidFill>
                  <a:srgbClr val="1E293B"/>
                </a:solidFill>
              </a:rPr>
              <a:t>Edge to adjacent sequential block.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7490"/>
                </a:solidFill>
              </a:rPr>
              <a:t>• Dual Export Pipeline: </a:t>
            </a:r>
            <a:r>
              <a:rPr sz="1200">
                <a:solidFill>
                  <a:srgbClr val="1E293B"/>
                </a:solidFill>
              </a:rPr>
              <a:t>Generates standard Graphviz DOT (cfg.dot) and a modern self-contained interactive web visualization (cfg.html) using Mermaid.js.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Intermediate Code Optimization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41732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9728" cy="1417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10378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  <a:latin typeface="Segoe UI"/>
              </a:defRPr>
            </a:pPr>
            <a:r>
              <a:t>Pass 1: Compile-Time Constant Folding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Scans arithmetic quadruples (+, -, *, /, %). If both operands are integer literals, evaluates the operation at compile time, replacing the operation with an assignment.</a:t>
            </a:r>
            <a:br/>
            <a:r>
              <a:t>Example: t1 = 10 + 20  ==&gt;  t1 = 30  |  t2 = 100 * 3  ==&gt;  t2 = 300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10698480" cy="141732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971800"/>
            <a:ext cx="109728" cy="1417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10378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  <a:latin typeface="Segoe UI"/>
              </a:defRPr>
            </a:pPr>
            <a:r>
              <a:t>Pass 2: Jump-to-Jump Chaining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Eliminates unnecessary intermediate branch hops. If quad i jumps to target L1, and quad L1 is an unconditional jump to L2 (goto L2), quad i's target is updated directly to L2.</a:t>
            </a:r>
            <a:br/>
            <a:r>
              <a:t>Iteratively runs with cycle detection to collapse jump cascades.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698480" cy="15544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109728" cy="15544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378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  <a:latin typeface="Segoe UI"/>
              </a:defRPr>
            </a:pPr>
            <a:r>
              <a:t>Pass 3: Dead Code &amp; Redundant Jump Elimination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Constructs the CFG and runs BFS reachability starting from Block 0 and function entries. Instructions belonging to unreachable basic blocks are pruned. Redundant jumps jumping to the immediate next quad (goto i+1) are removed. Jump targets are cleanly re-indexed.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Worked Trace 1: Review 1 Preserved Baseline (Slides 13 &amp; 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Slide 13: if (a &lt; b) x = 1; else x = 2;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Generated Three-Address Code:</a:t>
            </a:r>
            <a:br/>
            <a:r>
              <a:t> 0: if a &lt; b goto 2</a:t>
            </a:r>
            <a:br/>
            <a:r>
              <a:t> 1: goto 4</a:t>
            </a:r>
            <a:br/>
            <a:r>
              <a:t> 2: x = 1</a:t>
            </a:r>
            <a:br/>
            <a:r>
              <a:t> 3: goto 5</a:t>
            </a:r>
            <a:br/>
            <a:r>
              <a:t> 4: x = 2</a:t>
            </a:r>
            <a:br/>
            <a:r>
              <a:t> 5: end</a:t>
            </a:r>
            <a:br/>
            <a:br/>
            <a:r>
              <a:t>Backpatching Execution Details:</a:t>
            </a:r>
            <a:br/>
            <a:r>
              <a:t>• Quads 0, 1 emitted with '?':</a:t>
            </a:r>
            <a:br/>
            <a:r>
              <a:t>  truelist = {0}, falselist = {1}</a:t>
            </a:r>
            <a:br/>
            <a:r>
              <a:t>• Marker M1 = 2 patches quad 0 -&gt; goto 2</a:t>
            </a:r>
            <a:br/>
            <a:r>
              <a:t>• Marker N emits quad 3 (goto ?), nextlist = {3}</a:t>
            </a:r>
            <a:br/>
            <a:r>
              <a:t>• Marker M2 = 4 patches quad 1 -&gt; goto 4</a:t>
            </a:r>
            <a:br/>
            <a:r>
              <a:t>• S.nextlist = {3} patched to 5 on end</a:t>
            </a:r>
            <a:br/>
            <a:r>
              <a:t>✔ 100% Bit-for-Bit Match with Slide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Slide 14: if (a &lt; b &amp;&amp; c &lt; d) x = 1;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Generated Three-Address Code:</a:t>
            </a:r>
            <a:br/>
            <a:r>
              <a:t> 0: if a &lt; b goto 2</a:t>
            </a:r>
            <a:br/>
            <a:r>
              <a:t> 1: goto 5</a:t>
            </a:r>
            <a:br/>
            <a:r>
              <a:t> 2: if c &lt; d goto 4</a:t>
            </a:r>
            <a:br/>
            <a:r>
              <a:t> 3: goto 5</a:t>
            </a:r>
            <a:br/>
            <a:r>
              <a:t> 4: x = 1</a:t>
            </a:r>
            <a:br/>
            <a:r>
              <a:t> 5: end</a:t>
            </a:r>
            <a:br/>
            <a:br/>
            <a:r>
              <a:t>Short-Circuit Evaluation Details:</a:t>
            </a:r>
            <a:br/>
            <a:r>
              <a:t>• Left operand false: jumps directly to exit</a:t>
            </a:r>
            <a:br/>
            <a:r>
              <a:t>  without evaluating right operand (quad 1)</a:t>
            </a:r>
            <a:br/>
            <a:r>
              <a:t>• Left operand true: patched to right operand</a:t>
            </a:r>
            <a:br/>
            <a:r>
              <a:t>  condition at quad 2 (M.q = 2)</a:t>
            </a:r>
            <a:br/>
            <a:r>
              <a:t>• falselist = {1, 3} merged; both patched to 5</a:t>
            </a:r>
            <a:br/>
            <a:r>
              <a:t>• Zero boolean temporary flags materialized!</a:t>
            </a:r>
            <a:br/>
            <a:r>
              <a:t>✔ 100% Bit-for-Bit Match with Slide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Worked Trace 2: Slide 15 Nested while + if-else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while (a &lt; b) if (c &lt; d) x = 1; else x = 2;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onsolas"/>
              </a:defRPr>
            </a:pPr>
            <a:r>
              <a:t>Generated Three-Address Code:</a:t>
            </a:r>
            <a:br/>
            <a:r>
              <a:t> 0: if a &lt; b goto 2</a:t>
            </a:r>
            <a:br/>
            <a:r>
              <a:t> 1: goto 8</a:t>
            </a:r>
            <a:br/>
            <a:r>
              <a:t> 2: if c &lt; d goto 4</a:t>
            </a:r>
            <a:br/>
            <a:r>
              <a:t> 3: goto 6</a:t>
            </a:r>
            <a:br/>
            <a:r>
              <a:t> 4: x = 1</a:t>
            </a:r>
            <a:br/>
            <a:r>
              <a:t> 5: goto 0</a:t>
            </a:r>
            <a:br/>
            <a:r>
              <a:t> 6: x = 2</a:t>
            </a:r>
            <a:br/>
            <a:r>
              <a:t> 7: goto 0</a:t>
            </a:r>
            <a:br/>
            <a:r>
              <a:t> 8: end</a:t>
            </a:r>
            <a:br/>
            <a:br/>
            <a:r>
              <a:t>✔ Exact match with Slide 15 &amp; Slide 19</a:t>
            </a:r>
            <a:br/>
            <a:r>
              <a:t>✔ Output identical under latest C-syntax parser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Step-by-Step Backpatching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7490"/>
                </a:solidFill>
              </a:rPr>
              <a:t>• Step 1 (Loop Entry): </a:t>
            </a:r>
            <a:r>
              <a:rPr sz="1200">
                <a:solidFill>
                  <a:srgbClr val="1E293B"/>
                </a:solidFill>
              </a:rPr>
              <a:t>Marker M1 records condition quad 0. Loop condition (a &lt; b) emits quads 0 and 1. M2 records 2.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7490"/>
                </a:solidFill>
              </a:rPr>
              <a:t>• Step 2 (Inner If-Else): </a:t>
            </a:r>
            <a:r>
              <a:rPr sz="1200">
                <a:solidFill>
                  <a:srgbClr val="1E293B"/>
                </a:solidFill>
              </a:rPr>
              <a:t>Inner condition (c &lt; d) emits quads 2 and 3. M_true = 4. Quad 4 emits x = 1. Marker N emits quad 5 (goto ?). M_false = 6. Quad 6 emits x = 2.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7490"/>
                </a:solidFill>
              </a:rPr>
              <a:t>• Step 3 (Inner Backpatch): </a:t>
            </a:r>
            <a:r>
              <a:rPr sz="1200">
                <a:solidFill>
                  <a:srgbClr val="1E293B"/>
                </a:solidFill>
              </a:rPr>
              <a:t>c &lt; d.truelist patched to 4. c &lt; d.falselist patched to 6. Inner nextlist = {5}.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7490"/>
                </a:solidFill>
              </a:rPr>
              <a:t>• Step 4 (Outer While Backpatch): </a:t>
            </a:r>
            <a:r>
              <a:rPr sz="1200">
                <a:solidFill>
                  <a:srgbClr val="1E293B"/>
                </a:solidFill>
              </a:rPr>
              <a:t>Inner nextlist {5} backpatched to loop condition quad 0. Outer condition truelist {0} patched to 2. Quad 7 emits goto 0.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7490"/>
                </a:solidFill>
              </a:rPr>
              <a:t>• Step 5 (Program Exit): </a:t>
            </a:r>
            <a:r>
              <a:rPr sz="1200">
                <a:solidFill>
                  <a:srgbClr val="1E293B"/>
                </a:solidFill>
              </a:rPr>
              <a:t>Outer loop falselist {1} backpatched to exit quad 8 upon program termination.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Worked Trace 3: For &amp; Do-While with Break/Continue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For Loop with Continue &amp; 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Source: for (i = 0; i &lt; 10; i++) {</a:t>
            </a:r>
            <a:br/>
            <a:r>
              <a:t>           if (i == 5) continue;</a:t>
            </a:r>
            <a:br/>
            <a:r>
              <a:t>           sum += i;</a:t>
            </a:r>
            <a:br/>
            <a:r>
              <a:t>        }</a:t>
            </a:r>
            <a:br/>
            <a:br/>
            <a:r>
              <a:t>Generated Three-Address Code:</a:t>
            </a:r>
            <a:br/>
            <a:r>
              <a:t> 0: i = 0</a:t>
            </a:r>
            <a:br/>
            <a:r>
              <a:t> 1: if i &lt; 10 goto 7   (cond true -&gt; body)</a:t>
            </a:r>
            <a:br/>
            <a:r>
              <a:t> 2: goto 12            (cond false -&gt; exit)</a:t>
            </a:r>
            <a:br/>
            <a:r>
              <a:t> 3: goto 7             (skip step to body)</a:t>
            </a:r>
            <a:br/>
            <a:r>
              <a:t> 4: t1 = i + 1         (step start)</a:t>
            </a:r>
            <a:br/>
            <a:r>
              <a:t> 5: i = t1</a:t>
            </a:r>
            <a:br/>
            <a:r>
              <a:t> 6: goto 1             (step back to cond)</a:t>
            </a:r>
            <a:br/>
            <a:r>
              <a:t> 7: if i == 5 goto 9   (body)</a:t>
            </a:r>
            <a:br/>
            <a:r>
              <a:t> 8: goto 10</a:t>
            </a:r>
            <a:br/>
            <a:r>
              <a:t> 9: goto 4             (continue -&gt; step 4!)</a:t>
            </a:r>
            <a:br/>
            <a:r>
              <a:t>10: t2 = sum + i</a:t>
            </a:r>
            <a:br/>
            <a:r>
              <a:t>11: sum = t2</a:t>
            </a:r>
            <a:br/>
            <a:r>
              <a:t>12: goto 4             (loop jump to step)</a:t>
            </a:r>
            <a:br/>
            <a:r>
              <a:t>13: 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Do-While with Continue &amp; 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Source: do {</a:t>
            </a:r>
            <a:br/>
            <a:r>
              <a:t>           x = x + 1;</a:t>
            </a:r>
            <a:br/>
            <a:r>
              <a:t>           if (x == 5) continue;</a:t>
            </a:r>
            <a:br/>
            <a:r>
              <a:t>           if (x == 10) break;</a:t>
            </a:r>
            <a:br/>
            <a:r>
              <a:t>        } while (x &lt; 20);</a:t>
            </a:r>
            <a:br/>
            <a:br/>
            <a:r>
              <a:t>Generated Three-Address Code:</a:t>
            </a:r>
            <a:br/>
            <a:r>
              <a:t> 0: t1 = x + 1         (body start)</a:t>
            </a:r>
            <a:br/>
            <a:r>
              <a:t> 1: x = t1</a:t>
            </a:r>
            <a:br/>
            <a:r>
              <a:t> 2: if x == 5 goto 4</a:t>
            </a:r>
            <a:br/>
            <a:r>
              <a:t> 3: goto 5</a:t>
            </a:r>
            <a:br/>
            <a:r>
              <a:t> 4: goto 8             (continue -&gt; cond 8!)</a:t>
            </a:r>
            <a:br/>
            <a:r>
              <a:t> 5: if x == 10 goto 7</a:t>
            </a:r>
            <a:br/>
            <a:r>
              <a:t> 6: goto 8</a:t>
            </a:r>
            <a:br/>
            <a:r>
              <a:t> 7: goto 10            (break -&gt; exit 10!)</a:t>
            </a:r>
            <a:br/>
            <a:r>
              <a:t> 8: if x &lt; 20 goto 0   (cond true -&gt; body)</a:t>
            </a:r>
            <a:br/>
            <a:r>
              <a:t> 9: goto 10            (cond false -&gt; exit)</a:t>
            </a:r>
            <a:br/>
            <a:r>
              <a:t>10: end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Worked Trace 4: Switch-Case Dispatch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switch (op) { case ... default ...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Source Code:</a:t>
            </a:r>
            <a:br/>
            <a:r>
              <a:t>switch (op) {</a:t>
            </a:r>
            <a:br/>
            <a:r>
              <a:t>    case 1: res = a + b; break;</a:t>
            </a:r>
            <a:br/>
            <a:r>
              <a:t>    case 2: res = a - b; break;</a:t>
            </a:r>
            <a:br/>
            <a:r>
              <a:t>    default: res = 0;</a:t>
            </a:r>
            <a:br/>
            <a:r>
              <a:t>}</a:t>
            </a:r>
            <a:br/>
            <a:br/>
            <a:r>
              <a:t>Generated Three-Address Code:</a:t>
            </a:r>
            <a:br/>
            <a:r>
              <a:t> 0: goto 8             (jump to tests)</a:t>
            </a:r>
            <a:br/>
            <a:r>
              <a:t> 1: t1 = a + b         (case 1 body)</a:t>
            </a:r>
            <a:br/>
            <a:r>
              <a:t> 2: res = t1</a:t>
            </a:r>
            <a:br/>
            <a:r>
              <a:t> 3: goto 12            (break -&gt; exit)</a:t>
            </a:r>
            <a:br/>
            <a:r>
              <a:t> 4: t2 = a - b         (case 2 body)</a:t>
            </a:r>
            <a:br/>
            <a:r>
              <a:t> 5: res = t2</a:t>
            </a:r>
            <a:br/>
            <a:r>
              <a:t> 6: goto 12            (break -&gt; exit)</a:t>
            </a:r>
            <a:br/>
            <a:r>
              <a:t> 7: res = 0            (default body)</a:t>
            </a:r>
            <a:br/>
            <a:r>
              <a:t> 8: if op == 1 goto 1  (case 1 test)</a:t>
            </a:r>
            <a:br/>
            <a:r>
              <a:t> 9: if op == 2 goto 4  (case 2 test)</a:t>
            </a:r>
            <a:br/>
            <a:r>
              <a:t>10: goto 7             (default jump)</a:t>
            </a:r>
            <a:br/>
            <a:r>
              <a:t>11: goto 12            (fallthrough exit)</a:t>
            </a:r>
            <a:br/>
            <a:r>
              <a:t>12: 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Architectural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0E7490"/>
                </a:solidFill>
              </a:rPr>
              <a:t>• No Forward Label Resolution: </a:t>
            </a:r>
            <a:r>
              <a:rPr sz="1300">
                <a:solidFill>
                  <a:srgbClr val="1E293B"/>
                </a:solidFill>
              </a:rPr>
              <a:t>Emitting the test table at the bottom ensures all case starting addresses (quads 1, 4, 7) are already known when test comparisons are emitted.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0E7490"/>
                </a:solidFill>
              </a:rPr>
              <a:t>• Natural C Fallthrough: </a:t>
            </a:r>
            <a:r>
              <a:rPr sz="1300">
                <a:solidFill>
                  <a:srgbClr val="1E293B"/>
                </a:solidFill>
              </a:rPr>
              <a:t>If a case omits break;, control flows directly into the next case instruction without requiring synthetic jump instructions.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0E7490"/>
                </a:solidFill>
              </a:rPr>
              <a:t>• Single-Pass Efficiency: </a:t>
            </a:r>
            <a:r>
              <a:rPr sz="1300">
                <a:solidFill>
                  <a:srgbClr val="1E293B"/>
                </a:solidFill>
              </a:rPr>
              <a:t>Only one forward jump (quad 0) is patched. All breaks merge into a unified breaklist patched to exit quad 12 on completion.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Worked Trace 5: Full C Program with Functions &amp; Scopes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Source Program (tests/test13_c_program_scopes.txt)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int helper(int a) {</a:t>
            </a:r>
            <a:br/>
            <a:r>
              <a:t>    if (a &gt; 100) return a;</a:t>
            </a:r>
            <a:br/>
            <a:r>
              <a:t>    return a * 2;</a:t>
            </a:r>
            <a:br/>
            <a:r>
              <a:t>}</a:t>
            </a:r>
            <a:br/>
            <a:br/>
            <a:r>
              <a:t>int main() {</a:t>
            </a:r>
            <a:br/>
            <a:r>
              <a:t>    int x = 10, y = 20;</a:t>
            </a:r>
            <a:br/>
            <a:r>
              <a:t>    int total = 0;</a:t>
            </a:r>
            <a:br/>
            <a:r>
              <a:t>    for (int i = 0; i &lt; 5; i++) {</a:t>
            </a:r>
            <a:br/>
            <a:r>
              <a:t>        {</a:t>
            </a:r>
            <a:br/>
            <a:r>
              <a:t>            int x = 100; // Inner scope</a:t>
            </a:r>
            <a:br/>
            <a:r>
              <a:t>            total += x;</a:t>
            </a:r>
            <a:br/>
            <a:r>
              <a:t>        }</a:t>
            </a:r>
            <a:br/>
            <a:r>
              <a:t>        total += x;      // Outer scope</a:t>
            </a:r>
            <a:br/>
            <a:r>
              <a:t>    }</a:t>
            </a:r>
            <a:br/>
            <a:r>
              <a:t>    int result = helper(total);</a:t>
            </a:r>
            <a:br/>
            <a:r>
              <a:t>    return result;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Generated Quadruples &amp; Symbol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Three-Address Code Highlights:</a:t>
            </a:r>
            <a:br/>
            <a:r>
              <a:t> 0: func_begin helper</a:t>
            </a:r>
            <a:br/>
            <a:r>
              <a:t> 1: if a &gt; 100 goto 3</a:t>
            </a:r>
            <a:br/>
            <a:r>
              <a:t> 2: goto 4</a:t>
            </a:r>
            <a:br/>
            <a:r>
              <a:t> 3: return a</a:t>
            </a:r>
            <a:br/>
            <a:r>
              <a:t> 4: t1 = a * 2</a:t>
            </a:r>
            <a:br/>
            <a:r>
              <a:t> 5: return t1</a:t>
            </a:r>
            <a:br/>
            <a:r>
              <a:t> 7: func_begin main</a:t>
            </a:r>
            <a:br/>
            <a:r>
              <a:t> 8: x = 10</a:t>
            </a:r>
            <a:br/>
            <a:r>
              <a:t>18: x_s5 = 100          &lt;-- Shadowed IR symbol</a:t>
            </a:r>
            <a:br/>
            <a:r>
              <a:t>19: t3 = total + x_s5   &lt;-- Uses inner x_s5</a:t>
            </a:r>
            <a:br/>
            <a:r>
              <a:t>20: total = t3</a:t>
            </a:r>
            <a:br/>
            <a:r>
              <a:t>21: t4 = total + x      &lt;-- Uses outer x</a:t>
            </a:r>
            <a:br/>
            <a:r>
              <a:t>22: total = t4</a:t>
            </a:r>
            <a:br/>
            <a:r>
              <a:t>24: param total</a:t>
            </a:r>
            <a:br/>
            <a:r>
              <a:t>25: t5 = call helper, 1</a:t>
            </a:r>
            <a:br/>
            <a:r>
              <a:t>26: result = t5</a:t>
            </a:r>
            <a:br/>
            <a:r>
              <a:t>27: return result</a:t>
            </a:r>
            <a:br/>
            <a:r>
              <a:t>28: func_end main</a:t>
            </a:r>
            <a:br/>
            <a:r>
              <a:t>29: 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Implementation Status (100% Complete)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54864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dirty="0"/>
              <a:t>Completed Milestones (Review 1 &amp;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Lexical analyzer in Flex for identifiers, numbers, operators</a:t>
            </a:r>
          </a:p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Core backpatching functions: makelist, merge, backpatch, emit</a:t>
            </a:r>
          </a:p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Short-circuit boolean expressions without boolean flags</a:t>
            </a:r>
          </a:p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Full C-syntax compatibility: functions (main), return statements</a:t>
            </a:r>
          </a:p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Hierarchical block scoping ({ }) and variable shadowing</a:t>
            </a:r>
          </a:p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Extended control-flow: for loops, do-while loops, switch-case</a:t>
            </a:r>
          </a:p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Scoped jump management: break and continue context stack</a:t>
            </a:r>
          </a:p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Hash-table Symbol Table with type checking and error recovery</a:t>
            </a:r>
          </a:p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Basic block leader partitioning and interactive CFG generator</a:t>
            </a:r>
          </a:p>
          <a:p>
            <a:pPr>
              <a:spcAft>
                <a:spcPts val="700"/>
              </a:spcAft>
              <a:defRPr sz="1300" b="1">
                <a:solidFill>
                  <a:srgbClr val="27AE60"/>
                </a:solidFill>
                <a:latin typeface="Segoe UI"/>
              </a:defRPr>
            </a:pPr>
            <a:r>
              <a:t>✔  3-pass IR optimization (constants, jump chaining, dead code)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7490"/>
                </a:solidFill>
                <a:latin typeface="Segoe UI"/>
              </a:defRPr>
            </a:pPr>
            <a:r>
              <a:t>Automated Regression Test Results (13/13)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Test Suite Execution (python3 run_tests.py):</a:t>
            </a:r>
            <a:br/>
            <a:r>
              <a:t>[PASS] Test  1: Slide 13 if-else statement</a:t>
            </a:r>
            <a:br/>
            <a:r>
              <a:t>[PASS] Test  2: Slide 14 Short-Circuit AND (&amp;&amp;)</a:t>
            </a:r>
            <a:br/>
            <a:r>
              <a:t>[PASS] Test  3: Slide 15 &amp; 19 Nested while + if-else</a:t>
            </a:r>
            <a:br/>
            <a:r>
              <a:t>[PASS] Test  4: For Loop with break &amp; continue</a:t>
            </a:r>
            <a:br/>
            <a:r>
              <a:t>[PASS] Test  5: Do-While with break &amp; continue</a:t>
            </a:r>
            <a:br/>
            <a:r>
              <a:t>[PASS] Test  6: Switch-Case with default &amp; breaks</a:t>
            </a:r>
            <a:br/>
            <a:r>
              <a:t>[PASS] Test  7: Complex Booleans (&amp;&amp;, ||, !)</a:t>
            </a:r>
            <a:br/>
            <a:r>
              <a:t>[PASS] Test  8: Deeply Nested Structures</a:t>
            </a:r>
            <a:br/>
            <a:r>
              <a:t>[PASS] Test  9: Variable Declarations &amp; Types</a:t>
            </a:r>
            <a:br/>
            <a:r>
              <a:t>[PASS] Test 10: Semantic Errors Detection</a:t>
            </a:r>
            <a:br/>
            <a:r>
              <a:t>[PASS] Test 11: Syntax Error Recovery</a:t>
            </a:r>
            <a:br/>
            <a:r>
              <a:t>[PASS] Test 12: Intermediate Code Optimization</a:t>
            </a:r>
            <a:br/>
            <a:r>
              <a:t>[PASS] Test 13: Full C Program, Scopes &amp; Shadowing</a:t>
            </a:r>
            <a:br/>
            <a:br/>
            <a:r>
              <a:t>===========================================</a:t>
            </a:r>
            <a:br/>
            <a:r>
              <a:t>Summary: 13/13 tests passed (100.0%)</a:t>
            </a:r>
            <a:br/>
            <a:r>
              <a:t>STATUS: FULL PROJECT DELIVERABLE COMPLETE!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References &amp; Academic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E5A93C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E7490"/>
                </a:solidFill>
              </a:rPr>
              <a:t>•  </a:t>
            </a:r>
            <a:r>
              <a:rPr sz="1300">
                <a:solidFill>
                  <a:srgbClr val="1E293B"/>
                </a:solidFill>
                <a:latin typeface="Segoe UI"/>
              </a:rPr>
              <a:t>Aho, A. V., Lam, M. S., Sethi, R., &amp; Ullman, J. D. (2006). Compilers: Principles, Techniques, and Tools (2nd ed.). Addison-Wesley. (Chapter 6: Intermediate-Code Generation).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E7490"/>
                </a:solidFill>
              </a:rPr>
              <a:t>•  </a:t>
            </a:r>
            <a:r>
              <a:rPr sz="1300">
                <a:solidFill>
                  <a:srgbClr val="1E293B"/>
                </a:solidFill>
                <a:latin typeface="Segoe UI"/>
              </a:rPr>
              <a:t>Cooper, K. D., &amp; Torczon, L. (2022). Engineering a Compiler (3rd ed.). Morgan Kaufmann / Elsevier. (Control flow code shapes &amp; leader-based basic block partitioning).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E7490"/>
                </a:solidFill>
              </a:rPr>
              <a:t>•  </a:t>
            </a:r>
            <a:r>
              <a:rPr sz="1300">
                <a:solidFill>
                  <a:srgbClr val="1E293B"/>
                </a:solidFill>
                <a:latin typeface="Segoe UI"/>
              </a:rPr>
              <a:t>Lattner, C., Amini, M., Bik, A., Celis, S., et al. (2021). MLIR: Scaling Compiler Infrastructure for Domain Specific Computation. In IEEE/ACM International Symposium on Code Generation and Optimization (CGO 2021), pp. 2-14.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E7490"/>
                </a:solidFill>
              </a:rPr>
              <a:t>•  </a:t>
            </a:r>
            <a:r>
              <a:rPr sz="1300">
                <a:solidFill>
                  <a:srgbClr val="1E293B"/>
                </a:solidFill>
                <a:latin typeface="Segoe UI"/>
              </a:rPr>
              <a:t>Google V8 Team &amp; Systems Research (2018-2023). Liftoff: A Fast Baseline Compiler for WebAssembly &amp; Single-Pass JIT Analysis. Proceedings of ACM/IEEE Programming Systems.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E7490"/>
                </a:solidFill>
              </a:rPr>
              <a:t>•  </a:t>
            </a:r>
            <a:r>
              <a:rPr sz="1300">
                <a:solidFill>
                  <a:srgbClr val="1E293B"/>
                </a:solidFill>
                <a:latin typeface="Segoe UI"/>
              </a:rPr>
              <a:t>Niu, C., Li, C., Ng, V., Lo, D., &amp; Luo, B. (2024). FAIR: Flow Type-Aware Pre-Training of Compiler Intermediate Representations. In IEEE/ACM 46th International Conference on Software Engineering (ICSE 2024), pp. 1-13.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E7490"/>
                </a:solidFill>
              </a:rPr>
              <a:t>•  </a:t>
            </a:r>
            <a:r>
              <a:rPr sz="1300">
                <a:solidFill>
                  <a:srgbClr val="1E293B"/>
                </a:solidFill>
                <a:latin typeface="Segoe UI"/>
              </a:rPr>
              <a:t>Braun, M., Buchwald, S., Hack, S., Leissa, R., Mallon, C., &amp; Zwinkau, A. (2013/2022). Simple and Efficient Construction of Static Single Assignment Form. In Compiler Construction (CC), Springer LNCS 7791.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E7490"/>
                </a:solidFill>
              </a:rPr>
              <a:t>•  </a:t>
            </a:r>
            <a:r>
              <a:rPr sz="1300">
                <a:solidFill>
                  <a:srgbClr val="1E293B"/>
                </a:solidFill>
                <a:latin typeface="Segoe UI"/>
              </a:rPr>
              <a:t>Louden, K. C. (1997). Compiler Construction: Principles and Practice. PWS Publishing 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5741</Words>
  <Application>Microsoft Office PowerPoint</Application>
  <PresentationFormat>Widescreen</PresentationFormat>
  <Paragraphs>204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Ashutosh Gupta</cp:lastModifiedBy>
  <cp:revision>2</cp:revision>
  <dcterms:created xsi:type="dcterms:W3CDTF">2013-01-27T09:14:16Z</dcterms:created>
  <dcterms:modified xsi:type="dcterms:W3CDTF">2026-10-20T17:07:10Z</dcterms:modified>
  <cp:category/>
</cp:coreProperties>
</file>
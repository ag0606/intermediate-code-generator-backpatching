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B6C00B-A70F-4603-95F0-553A7B578D4B}">
  <a:tblStyle styleId="{04B6C00B-A70F-4603-95F0-553A7B578D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presentation: One-pass Intermediate Code Generator using Backpatching for C control-flow constructs.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slide_179251853235652290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slide_179251853235652290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forward-jump dilemma in single-pass compilers and contrast backpatching with multi-pass label tables.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_179251853235652290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_179251853235652290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project deliverables across core backpatching, control flow, scoping, and optimization.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slide_179251853235652290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slide_179251853235652290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modern papers on IR design (MLIR CGO 2021) and flow-typed CFG edge classifications (FAIR ICSE 2024).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_179251853235652290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_179251853235652290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Examine modern single-pass compilation in V8 Liftoff and Braun et al.'s direct IR and scope construction.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slide_179251853235704900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slide_179251853235704900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modern optimization correctness: ASPLOS 2022 DCE Lens and ICSE 2024 Xdead miscompilation analysis.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slide_179251853557103270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slide_179251853557103270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analysis matrix synthesizing the 6 modern research papers and their direct implementation in our compiler.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_179251853557103270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_179251853557103270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 the open gaps in compiler research and articulate our 4 primary academic novelties.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slide_179251853557103270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slide_179251853557103270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modular architectural decomposition across lexer, parser, backpatcher, CFG engine, and optimizer.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slide_179251853557103270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slide_179251853557103270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 the step-by-step execution pipeline from CLI invocation to optimized 3AC.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_179251853557103270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_179251853557103270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core backpatching primitives, marker non-terminals, and short-circuit boolean semantics.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slide_179251853851467530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slide_179251853851467530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extended C-compatible grammar and type verification rules supported by the compiler.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lide_179251853851467530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lide_179251853851467530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single-pass scope resolution, name mangling, and variable shadowing without an AST.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slide_179251853851467530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slide_179251853851467530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 how nested loops and switch cases isolate break and continue statements using a context stack.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slide_179251853851467530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slide_179251853851467530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through execution traces and quadruple outputs for short-circuit AND and if-else.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slide_179251853851467530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slide_179251853851467530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 the nested while loop with if-else, showing list concatenation, back-edges, and exit resolution.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slide_179251854229881260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slide_179251854229881260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basic block leader identification, flow-typed CFG edges, and the interactive HTML visualization.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slide_179251854229881260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slide_179251854229881260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multi-pass optimizer and explain how jump target re-indexing prevents miscompilations.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slide_179251854229881260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slide_179251854229881260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 the diagnostic subsystem, syntax error recovery with Bison, and semantic verifications.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slide_179251854229985770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slide_179251854229985770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the automated test harness results and multi-platform build infrastructure.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slide_179251854229985770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slide_179251854229985770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 key project achievements and outline future research directions in compiler back-ends.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slide_179251854229985770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slide_179251854229985770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 bibliographic references to peer-reviewed modern compiler research papers and foundational textbooks.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65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08000" y="1016000"/>
            <a:ext cx="81279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Intermediate Code Generator for Control-Flow Statements</a:t>
            </a:r>
            <a:endParaRPr b="1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08000" y="2159000"/>
            <a:ext cx="8127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FD8D8"/>
                </a:solidFill>
                <a:latin typeface="Roboto"/>
                <a:ea typeface="Roboto"/>
                <a:cs typeface="Roboto"/>
                <a:sym typeface="Roboto"/>
              </a:rPr>
              <a:t>One-pass backpatching with symbol table, CFG construction and optimization</a:t>
            </a:r>
            <a:endParaRPr sz="1600">
              <a:solidFill>
                <a:srgbClr val="9F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08000" y="2857500"/>
            <a:ext cx="81279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Compiler Design Project  |  Complete Implementation</a:t>
            </a:r>
            <a:endParaRPr b="1"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08000" y="3810000"/>
            <a:ext cx="812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9D3DD"/>
                </a:solidFill>
                <a:latin typeface="Roboto"/>
                <a:ea typeface="Roboto"/>
                <a:cs typeface="Roboto"/>
                <a:sym typeface="Roboto"/>
              </a:rPr>
              <a:t>Ashutosh Gupta (24BCE2983)   |   Dhruv Mathur (24BCE2504)   |   Somya Raj Singh Dalawat (24BCE3001)</a:t>
            </a:r>
            <a:endParaRPr sz="1200">
              <a:solidFill>
                <a:srgbClr val="C9D3D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The Problem: Forward Jumps in One-Pass Compilers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444500" y="952500"/>
            <a:ext cx="4064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Why Target Addresses Are Unknown at Emission Time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44500" y="1397000"/>
            <a:ext cx="40641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One-Pass Nature: A one-pass compiler emits 3-address code while parsing source tokens from left to right.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The Branching Dilemma: In if (B) S1 else S2, the jump generated after B to skip S1 cannot know the quad index of S2. Similarly, the jump at the end of S1 cannot know the following statement's position.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Flaws of Symbolic Labels: Requires allocating a dedicated label symbol table, introduces memory overhead, and demands a second resolving pass.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Inherited Attribute Problem: Bottom-up (LR / Bison) parsers synthesize attributes up grammar trees; inherited label attributes require top-down predictive parsers.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762500" y="952500"/>
            <a:ext cx="3936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Concrete Example &amp; Backpatching Solution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762500" y="1397000"/>
            <a:ext cx="3936900" cy="17145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Source: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if (a &lt; b &amp;&amp; c &lt; d) x = 1;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Emitted 3-Address Code (Unpatched):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0: if a &lt; b goto ?   [truelist: {0}]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1: goto ?            [falselist: {1}]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2: if c &lt; d goto ?   [truelist: {2}]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3: goto ?            [falselist: {3}]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4: x = 1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762500" y="3238500"/>
            <a:ext cx="39369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Elegance of Backpatching (Dragon Book):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Emit jumps with placeholder targets ('?'), record quad indices in synthesized lists (truelist, falselist, nextlist), and fill them in the instant the target quad index is reached.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Optimal Efficiency: Every jump is added to a list once and patched once, achieving strict O(n) linear compilation time.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Objectives and System Deliverables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444500" y="10160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Core Backpatching Engine</a:t>
            </a:r>
            <a:endParaRPr b="1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44500" y="1460500"/>
            <a:ext cx="4000500" cy="139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Synthesized truelist, falselist, nextlist structures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Primitives: emit(), makelist(), merge(), backpatch()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Marker non-terminals M (records quad) and N (skip jump)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Short-circuit boolean evaluation (&amp;&amp;, ||, !) without flags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699000" y="10160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Full C-Style Control Flow</a:t>
            </a:r>
            <a:endParaRPr b="1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699000" y="1460500"/>
            <a:ext cx="4000500" cy="139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if, if-else, and deeply nested conditionals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Extended loops: while, for, do-while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switch-case with case, default, and natural fallthrough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Nested break and continue bound to innermost context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44500" y="30480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Semantic Analysis &amp; Scoping</a:t>
            </a:r>
            <a:endParaRPr b="1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44500" y="3492500"/>
            <a:ext cx="4000500" cy="139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Scoped symbol table with hierarchical dynamic scope stack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Dynamic variable shadowing with unique 3AC names (x_s2)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Static type checking: int, float, double, char, bool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Synchronizing syntax error recovery (error ;)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699000" y="3048000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Program Analysis &amp; Optimization</a:t>
            </a:r>
            <a:endParaRPr b="1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699000" y="3492500"/>
            <a:ext cx="4000500" cy="139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4-rule Leader algorithm and Basic Block partitioning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Flow-typed Control Flow Graph (DOT and interactive HTML)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Multi-pass optimizer: constant folding, jump chaining, DCE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13-program automated test suite (100% passing)</a:t>
            </a:r>
            <a:endParaRPr sz="11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Literature Survey (1/3): IR Infrastructure &amp; Flow-Typed Graphs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MLIR: Multi-Level Intermediate Representation</a:t>
            </a:r>
            <a:endParaRPr b="1" sz="13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44500" y="1308100"/>
            <a:ext cx="406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Lattner, Amini, Bickerdike, et al. • IEEE/ACM CGO 2021 (Best Paper Award)</a:t>
            </a:r>
            <a:endParaRPr i="1" sz="9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44500" y="1676400"/>
            <a:ext cx="40641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Core Idea: Proposes multi-level dialect lowering to eliminate compiler fragmentation. Contrasts dialect lowering against classical linear Three-Address Code (TAC/quadruples).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Direct Link to Project: Confirms that linear 3AC quadruples remain the bedrock for low-latency code emission, instruction scheduling, and basic block partitioning.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Research Gap: MLIR requires heavy multi-pass lowering infrastructures; it does not address lightweight single-pass streaming emission during LR parsing.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FAIR: Flow Type-Aware Pre-Training of Compiler IRs</a:t>
            </a:r>
            <a:endParaRPr b="1" sz="13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4762500" y="1308100"/>
            <a:ext cx="393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Niu, Li, Ng, Lo, &amp; Luo • IEEE/ACM ICSE 2024 (Top SE Conference)</a:t>
            </a:r>
            <a:endParaRPr i="1" sz="9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762500" y="1676400"/>
            <a:ext cx="39369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Core Idea: Intermediate representations lose critical semantics when treated as flat token streams. Control-flow edges must be explicitly categorized by flow type (True, False, Jump, Fallthrough).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Direct Link to Project: Directly inspires and validates our CFG engine (cfg.c), which classifies every basic block boundary into explicit semantic flow types for structural program analysis.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Research Gap: FAIR analyzes pre-existing LLVM IRs; it does not generate IR from source syntax or perform one-pass jump backpatching.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Literature Survey (2/3): Single-Pass Compilation &amp; Scoping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Liftoff: V8 Fast Baseline Compiler for WebAssembly</a:t>
            </a:r>
            <a:endParaRPr b="1" sz="13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44500" y="1308100"/>
            <a:ext cx="406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Haas, Rossberg, Schuff, et al. • ACM PLDI / Systems (2018–2023)</a:t>
            </a:r>
            <a:endParaRPr i="1" sz="9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44500" y="1676400"/>
            <a:ext cx="40641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Core Idea: Optimizing multi-pass JITs (TurboFan) suffer severe startup latency. Liftoff demonstrates that single-pass streaming compilation using label fixups (backpatching) emits native code on-the-fly with zero AST overhead.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Direct Link to Project: Proves that single-pass backpatching is actively deployed in modern high-performance runtimes to eliminate AST memory footprint and startup compilation delay.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Research Gap: Liftoff emits machine code directly; it does not construct a reusable CFG or perform structured reachability optimization.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Direct IR &amp; Scope Construction from Syntax</a:t>
            </a:r>
            <a:endParaRPr b="1" sz="13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762500" y="1308100"/>
            <a:ext cx="393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Braun, Buchwald, Hack, et al. • Springer CC / Evaluated 2022</a:t>
            </a:r>
            <a:endParaRPr i="1" sz="9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4762500" y="1676400"/>
            <a:ext cx="39369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Core Idea: Formulates algorithms to construct intermediate representation and variable versions on-the-fly directly during syntax analysis without requiring global dominator tree computations over an AST.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Direct Link to Project: Direct theoretical justification for our active scope stack and dynamic variable shadowing (x_s0, x_s2, x_s5) directly during LR reductions without building an AST.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Research Gap: Focuses on SSA phi-functions rather than control-flow backpatching lists (truelist, falselist, nextlist).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Literature Survey (3/3): Optimization &amp; Correctness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Dead Code Elimination as an Optimizer Lens</a:t>
            </a:r>
            <a:endParaRPr b="1" sz="13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44500" y="1308100"/>
            <a:ext cx="406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Theodoridis, Rigger, Su • ACM ASPLOS 2022</a:t>
            </a:r>
            <a:endParaRPr i="1" sz="9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444500" y="1676400"/>
            <a:ext cx="40641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Core Idea: Injects markers in basic blocks and computes live/dead blocks. Dead code elimination (DCE) based on control-flow reachability is the primary benchmark for compiler optimization effectiveness.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Direct Link to Project: Directly informs our CFG reachability algorithm in optimizer.c, pruning unreachable basic blocks from Block 0.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Research Gap: Focuses on bug-finding in mature compilers (LLVM, GCC); does not cover single-pass IR generation.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Xdead: Miscompilations in Compiler Optimizations</a:t>
            </a:r>
            <a:endParaRPr b="1" sz="13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762500" y="1308100"/>
            <a:ext cx="3936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Beyond a Joke: DCE Can Delete Live Code • IEEE/ACM ICSE-NIER 2024</a:t>
            </a:r>
            <a:endParaRPr i="1" sz="9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4762500" y="1676400"/>
            <a:ext cx="3936900" cy="30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Core Idea: Differential testing revealed that dead-code elimination passes can erroneously corrupt jump targets and delete live code in production compilers.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Direct Link to Project: Motivates our rigorous jump target re-indexing algorithm and our 13-program automated test suite to guarantee semantic preservation.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Research Gap: Diagnostic study highlighting optimization risks; does not propose single-pass backpatched IR generation.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Literature Survey Summary &amp; Comparative Analysis Matrix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" name="Google Shape;125;p19"/>
          <p:cNvGraphicFramePr/>
          <p:nvPr/>
        </p:nvGraphicFramePr>
        <p:xfrm>
          <a:off x="444500" y="95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{04B6C00B-A70F-4603-95F0-553A7B578D4B}</a:tableStyleId>
              </a:tblPr>
              <a:tblGrid>
                <a:gridCol w="2063750"/>
                <a:gridCol w="2063750"/>
                <a:gridCol w="2063750"/>
                <a:gridCol w="2063750"/>
              </a:tblGrid>
              <a:tr h="42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0F172A"/>
                          </a:solidFill>
                        </a:rPr>
                        <a:t>Research Work</a:t>
                      </a:r>
                      <a:endParaRPr b="1" sz="105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0F172A"/>
                          </a:solidFill>
                        </a:rPr>
                        <a:t>Venue &amp; Year</a:t>
                      </a:r>
                      <a:endParaRPr b="1" sz="105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0F172A"/>
                          </a:solidFill>
                        </a:rPr>
                        <a:t>Key Paradigm &amp; Focus</a:t>
                      </a:r>
                      <a:endParaRPr b="1" sz="105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0F172A"/>
                          </a:solidFill>
                        </a:rPr>
                        <a:t>Direct Module Mapping</a:t>
                      </a:r>
                      <a:endParaRPr b="1" sz="1050">
                        <a:solidFill>
                          <a:srgbClr val="0F172A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2E8F0"/>
                    </a:solidFill>
                  </a:tcPr>
                </a:tc>
              </a:tr>
              <a:tr h="42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V8 Liftoff (Google)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2018–2023 / ACM PLDI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Single-pass streaming compilation &amp; label fixups</a:t>
                      </a:r>
                      <a:endParaRPr sz="9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quad.c (backpatching engine, zero AST latency)</a:t>
                      </a:r>
                      <a:endParaRPr sz="950"/>
                    </a:p>
                  </a:txBody>
                  <a:tcPr marT="91425" marB="91425" marR="91425" marL="91425"/>
                </a:tc>
              </a:tr>
              <a:tr h="42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MLIR (Lattner et al.)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2021 / IEEE/ACM CGO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Linear 3AC vs multi-level IR dialect lowering</a:t>
                      </a:r>
                      <a:endParaRPr sz="9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quad.h, 3AC linear quadruple array</a:t>
                      </a:r>
                      <a:endParaRPr sz="950"/>
                    </a:p>
                  </a:txBody>
                  <a:tcPr marT="91425" marB="91425" marR="91425" marL="91425"/>
                </a:tc>
              </a:tr>
              <a:tr h="42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FAIR (Niu et al.)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2024 / IEEE/ACM ICSE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Flow-typed CFG edge semantics (True/False/Jump)</a:t>
                      </a:r>
                      <a:endParaRPr sz="9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cfg.c (explicit flow edge classification)</a:t>
                      </a:r>
                      <a:endParaRPr sz="950"/>
                    </a:p>
                  </a:txBody>
                  <a:tcPr marT="91425" marB="91425" marR="91425" marL="91425"/>
                </a:tc>
              </a:tr>
              <a:tr h="42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Direct IR (Braun et al.)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2022 / Springer CC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Single-pass IR &amp; variable scoping without AST</a:t>
                      </a:r>
                      <a:endParaRPr sz="9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symbol_table.c (scope stack, shadowing)</a:t>
                      </a:r>
                      <a:endParaRPr sz="950"/>
                    </a:p>
                  </a:txBody>
                  <a:tcPr marT="91425" marB="91425" marR="91425" marL="91425"/>
                </a:tc>
              </a:tr>
              <a:tr h="42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DCE Lens (Su et al.)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2022 / ACM ASPLOS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Reachability-based dead block elimination</a:t>
                      </a:r>
                      <a:endParaRPr sz="9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optimizer.c (CFG reachability pruning)</a:t>
                      </a:r>
                      <a:endParaRPr sz="950"/>
                    </a:p>
                  </a:txBody>
                  <a:tcPr marT="91425" marB="91425" marR="91425" marL="91425"/>
                </a:tc>
              </a:tr>
              <a:tr h="42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Xdead (Miscompilations)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2024 / ICSE-NIER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Target corruption &amp; live code deletion safety</a:t>
                      </a:r>
                      <a:endParaRPr sz="9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/>
                        <a:t>optimizer.c (jump re-indexing), run_tests.py</a:t>
                      </a:r>
                      <a:endParaRPr sz="95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19"/>
          <p:cNvSpPr txBox="1"/>
          <p:nvPr/>
        </p:nvSpPr>
        <p:spPr>
          <a:xfrm>
            <a:off x="444500" y="4064000"/>
            <a:ext cx="8255100" cy="7620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Scholarly Synthesis: Contemporary literature (2018–2024) proves that single-pass streaming compilation with jump fixups (V8 Liftoff) is essential for low latency, while flow-typed CFGs (FAIR) and reachability DCE (ASPLOS) provide structural rigor. Our system integrates these principles into a unified, C-compatible compiler pipeline.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Research Gap &amp; Key Architectural Contributions (Novelty)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444500" y="952500"/>
            <a:ext cx="406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Identified Gaps in Modern Literature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444500" y="1422400"/>
            <a:ext cx="4064100" cy="330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Bifurcated State of the Art: Production JIT engines (V8 Liftoff) use single-pass fixups but omit intermediate CFG analysis; academic compilers (MLIR, LLVM) build deep multi-pass IRs with high latency.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Missing Unified Pipelines: Lexical scoping, variable shadowing, IR backpatching, CFG synthesis, and optimization are rarely integrated into a single, self-contained educational compiler.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Optimization Safety (Xdead): Deleting dead instructions post-backpatching easily corrupts hardcoded numerical jump targets without rigorous address re-indexing.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762500" y="952500"/>
            <a:ext cx="393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Our 4 Novel Architectural Contributions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4762500" y="1422400"/>
            <a:ext cx="3936900" cy="330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1. Single-Pass Scoping &amp; Shadowing: Dynamic scope stack assigning unique 3AC variable names (x_s2, x_s5) during LR reductions with zero AST overhead.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2. Dual-Marker Loop Synchronization: N_skip and N_back resolve out-of-order C for-loop execution in strictly linear O(1) time without backtracking.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3. Direct Flow-Typed CFG &amp; Web Visualizer: 4-rule leader partitioning directly on unlabelled quads with FAIR-compliant flow edges and interactive HTML viewer.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4. Coupled Optimizer with Target Re-indexing: Transitive jump chaining, constant folding, and BFS dead-block removal with complete mathematical address integrity.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System Architecture &amp; Data Flow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Front-End Translation (Single-Pass LR Parsing)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src/main.c: CLI entry point and pipeline orchestrator.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src/lexer.l: Flex tokenizer tracking line and column coordinates.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src/parser.y: Bison L-attributed grammar executing SDT semantic actions.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src/quad.c: Quadruple emission, makelist, merge, and backpatching.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src/symbol_table.c: Scoped symbol hierarchy and variable shadowing.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src/loop_stack.c: Context frame stack for nested break/continue.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src/error_reporter.c: Descriptive syntax and semantic error diagnostics.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Back-End Analysis &amp; Optimization Passes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Intermediate Representation: Flat linear array of 3-Address Code (TAC) Quadruples (op, arg1, arg2, result).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src/cfg.c (Program Graph Synthesis):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- 4-rule Leader Algorithm partitions quads into Basic Blocks.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Flow-type edge classification (True, False, Jump, Fallthrough).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Graphviz DOT and interactive Mermaid.js HTML exports.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src/optimizer.c (Coupled Multi-Pass Optimizer):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Constant folding on literal arithmetic.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Transitive jump chaining.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CFG reachability dead block elimination with jump re-indexing.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End-to-End Compiler Execution Pipeline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444500" y="952500"/>
            <a:ext cx="8255100" cy="374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Step 1: CLI Invocation &amp; Initialization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User invokes ./icg program.c --all. main() initializes symbol table and loop stack.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Step 2: Lexical Analysis &amp; Token Stream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yylex() tokenizes source characters into keywords, identifiers, and literals with coordinates.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Step 3: Syntax-Directed Translation &amp; Backpatching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yyparse() reduces grammar productions, calls emit(), and resolves patch lists on-the-fly.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Step 4: Raw Intermediate Code &amp; Symbol Export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Unoptimized 3-Address Code quadruples and scoped symbol table are printed.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Step 5: Control Flow Graph Synthesis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cfg_build() partitions basic blocks and exports cfg.dot and interactive cfg.html.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Step 6: Intermediate Code Optimization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optimize_quads() folds constants, chains transitive jumps, and eliminates unreachable dead blocks.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Step 7: Verification &amp; Final Metrics Reporting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Optimized 3AC is displayed alongside reduction metrics and test verification status.</a:t>
            </a:r>
            <a:endParaRPr sz="11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The Backpatching Engine (src/quad.c)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Core Primitives &amp; Data Structures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emit(op, arg1, arg2, res): Appends quadruple to quads[nextquad] and increments nextquad.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makelist(i): Allocates a single-node linked list containing quad index i: [i].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merge(p1, p2): Concatenates two linked lists in O(1) amortized time.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backpatch(p, target): Iterates over list p, updating quads[node-&gt;quad].result to string(target).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newtemp(): Generates distinct temporary names (t1, t2, ...).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Markers &amp; Short-Circuit Evaluation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Synthesized Attributes: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B.truelist: Jumps taken when condition is true.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B.falselist: Jumps taken when condition is false.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S.nextlist: Jumps to statement immediately following 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Marker Non-Terminals: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M -&gt; eps: Synthesizes M.quad = nextquad().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N -&gt; eps: Emits goto ?; returns makelist(nextquad).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Short-Circuit Rules (No Booleans Computed):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B1 &amp;&amp; M B2: backpatch(B1.true, M.q); B.false = merge(B1.f, B2.f);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B1 || M B2: backpatch(B1.false, M.q); B.true = merge(B1.t, B2.t);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!B: Swaps truelist and falselist directly in O(1) time.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Source Language Grammar &amp; C-Syntax Coverage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Supported C Statements &amp; Control Flow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Declarations: int, float, double, char, bool with comma-separated initializer lists: int a = 1, b, c = 10;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Compound Assignments: +=, -=, *=, /=, %=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Unary Increments: ++x, x++, --x, x--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Conditionals: if (B) S and if (B) S1 else S2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Loops: while (B) S, do S while (B);, and for (init; cond; step) S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Switch Statement: switch (E) { case V: ... default: ... }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Jump Statements: break;, continue;, return [E];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Compound Scopes: { S1 S2 ... } with lexical scoping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Expressions &amp; Semantic Type Rules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Arithmetic: +, -, *, /, % with temporaries (t1, t2, ...)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Relational: &lt;, &lt;=, &gt;, &gt;=, ==, !=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Logical: &amp;&amp;, ||, ! with full short-circuiting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Bitwise: &amp;, |, ^, ~, &lt;&lt;, &gt;&gt;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Functions: Top-level function declarations (int main() { ... })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Type Verification: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Detects assignment type mismatches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Enforces boolean compatibility on conditions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Detects duplicate declarations in identical scope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Flags undeclared identifiers with line/column coordinates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Hierarchical Symbol Table &amp; Variable Shadowing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Dynamic Variable Shadowing in 3AC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444500" y="1371600"/>
            <a:ext cx="4064100" cy="24129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Source Code: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int x = 1;      // Level 0: IR name 'x'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int x = 2;  // Level 1: IR name 'x_s2'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y = x + 1;  // Uses x_s2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z = x;          // Restores outer 'x'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Generated 3-Address Code: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0: x = 1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1: x_s2 = 2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2: t1 = x_s2 + 1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3: y = t1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4: z = x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444500" y="3873500"/>
            <a:ext cx="4064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080"/>
                </a:solidFill>
                <a:latin typeface="Roboto"/>
                <a:ea typeface="Roboto"/>
                <a:cs typeface="Roboto"/>
                <a:sym typeface="Roboto"/>
              </a:rPr>
              <a:t>Key Innovation: Disambiguates shadowed identifiers directly during LR reduction without needing an AST alpha-conversion pass.</a:t>
            </a:r>
            <a:endParaRPr b="1" sz="1100">
              <a:solidFill>
                <a:srgbClr val="0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Symbol Table Implementation (symbol_table.c)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Scope Stack: Dynamic stack tracking current_scope_id and current_scope_level.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Scope Entry (symtab_enter_scope):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Pushed on '{' and function headers. Increments scope ID.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Scope Exit (symtab_exit_scope):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Popped on '}'. Marks inner symbols as inactive (is_active = false), restoring visibility to outer shadowed identifiers.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Hierarchical Lookup (symtab_lookup):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Traverses from innermost active scope down to global scope (Level 0).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Mangling (symtab_get_ir_name):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If level &gt; 0, returns &lt;name&gt;_s&lt;scope_id&gt;.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Loop &amp; Switch Context Management (src/loop_stack.c)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Context Frame Stack Architecture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LoopContext Structure: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type: CTX_LOOP (while, for, do-while) or CTX_SWITCH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breaklist: Linked list of unpatched break jumps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continuelist: Linked list of unpatched continue jumps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loop_start_quad: Quad index of loop condition/step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loop_stack_push(type):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Pushed via mid-rule actions upon entering loop or switch.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handle_break():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Emits goto ? and appends quad index to innermost breaklist.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handle_continue():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Searches up the stack for nearest CTX_LOOP, bypassing any intermediate CTX_SWITCH frames.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Patching at Construct Exit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While Loop Exit: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continuelist backpatched to loop condition (M1.q)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breaklist merged with condition falselist into exit nextlist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For Loop Exit: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continuelist backpatched to loop step (M2.q)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breaklist merged with condition falselist into exit nextlist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Switch-Case Exit: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All case breaks accumulated in breaklist are backpatched to exit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Semantic Safety: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Issuing break or continue outside an active loop/switch is immediately flagged as a semantic error.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Worked Trace (1/2): Short-Circuit Logic &amp; If-Else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Trace 1: Short-Circuit AND (Slide 14 Match)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444500" y="1371600"/>
            <a:ext cx="4064100" cy="20319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Source Code: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if (a &lt; b &amp;&amp; c &lt; d) x = 1;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Generated 3-Address Code: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0: if a &lt; b goto 2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1: goto 5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2: if c &lt; d goto 4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3: goto 5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4: x = 1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5: end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444500" y="3492500"/>
            <a:ext cx="40641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Left condition false branches directly to exit quad 5.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falselist {1, 3} merged and backpatched once to 5.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Matches Slide 14 specification bit-for-bit.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Trace 2: If-Else Branching (Slide 13 Match)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4762500" y="1371600"/>
            <a:ext cx="3936900" cy="20319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Source Code: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if (a &lt; b) x = 1; else x = 2;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Generated 3-Address Code: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0: if a &lt; b goto 2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1: goto 4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2: x = 1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3: goto 5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4: x = 2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5: end</a:t>
            </a:r>
            <a:endParaRPr sz="110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4762500" y="3492500"/>
            <a:ext cx="39369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Condition true jumps to 2; false jumps to 4.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Marker N emits quad 3 (goto 5) to skip else body.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Matches Slide 13 specification bit-for-bit.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Worked Trace (2/2): Nested Loop &amp; Conditionals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Source &amp; Emitted Quads (Slides 15 &amp; 19 Match)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Source Code: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while (a &lt; b)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if (c &lt; d)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= 1;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else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= 2;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Generated 3-Address Code: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0: if a &lt; b goto 2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1: goto 8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2: if c &lt; d goto 4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3: goto 6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4: x = 1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5: goto 0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6: x = 2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7: goto 0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8: end</a:t>
            </a:r>
            <a:endParaRPr sz="1050">
              <a:solidFill>
                <a:srgbClr val="0F17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Two-Level Backpatching Analysis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1. Marker M1 records loop header: M1.q = 0.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2. Condition (a &lt; b) emits quads 0 and 1: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truelist = {0}, falselist = {1}.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3. Marker M2 records loop body start: M2.q = 2.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backpatch(B1.truelist, 2) updates quad 0 -&gt; goto 2.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4. Inner if (c &lt; d) evaluates: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truelist = {2} patched to quad 4; falselist = {3} patched to quad 6.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5. Marker N emits quad 5 (goto ?) to skip else body.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6. Loop Exit Resolution: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S_body.nextlist {5} backpatched to loop condition: goto 0.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Quad 7 is the back-edge: goto 0.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While falselist {1} backpatched to exit quad 8.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Exact bit-for-bit match with Dragon Book and slide specification!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Basic Blocks &amp; Control Flow Graph (src/cfg.c)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4-Rule Leader Algorithm &amp; Graph Construction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1. Find Leaders: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Quad 0 is always a leader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Target of any conditional or unconditional jump is a leader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Instruction immediately following a jump or return is a leader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Function entry headers (func_begin) are leaders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2. Partition Blocks: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Quads between consecutive leaders form straight-line BasicBlocks.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3. Flow-Type Edge Classification (FAIR ICSE 2024):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EDGE_TRUE: Conditional branch taken (Green)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EDGE_FALSE: Conditional branch fallthrough (Red)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EDGE_JUMP: Unconditional goto target (Orange)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- EDGE_FALLTHROUGH: Sequential block transition (Blue)</a:t>
            </a:r>
            <a:endParaRPr sz="105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Interactive Visual Outputs &amp; Reachability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BFS Graph Reachability: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Traverses edges from Block 0 and function headers. Any basic block not reached during BFS is marked unreachable (dead block).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Graphviz DOT Export (cfg.dot):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Generates standard DOT specifications compatible with dot / xdot.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Interactive HTML Dashboard (cfg.html):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Self-contained modern web application powered by Mermaid.js.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Pan-and-zoom navigation and real-time block inspector.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Color-coded edge routing dynamically reflecting flow-types.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Coupled Intermediate Code Optimization (src/optimizer.c)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Optimization Passes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Pass 1: Constant Folding: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Evaluates arithmetic on integer constants at compile-time: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t1 = 10 + 20  ==&gt;  t1 = 30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Pass 2: Transitive Jump Chaining: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Collapses chains of jumps to reduce latency: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goto L1 (where L1 is goto L2)  ==&gt;  goto L2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Pass 3: Redundant Jump Elimination: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Prunes jumps targeting the immediate successor instruction: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quad i: goto i+1  ==&gt;  [Deleted]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Pass 4: CFG Reachability Dead Code Elimination: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Deletes unreachable basic blocks identified by BFS traversal.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In-Place Jump Target Re-Indexing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The Address Invalidation Problem: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Deleting dead quadruples or collapsing jumps alters numerical target indices throughout the 3AC array. Without re-indexing, jumps become corrupted (Xdead ICSE 2024).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Mathematical Re-Indexing Solution: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1. Constructs an offset mapping array: new_index[old_idx].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2. Compacts the quad array by removing pruned instructions.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3. Rewrites every jump target (conditional and unconditional) using the mapping array in a single O(N) pass.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Guarantees 100% address integrity and semantic preservation across all optimization levels.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Diagnostics &amp; Semantic Error Recovery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1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Error Infrastructure (src/error_reporter.c)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Precise Coordinate Reporting: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Flex tracks line and column numbers (yylloc.first_column).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Syntax Error Diagnostics: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report_syntax_error(): Formatted error messages indicating unexpected tokens and line/col locations.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Bison Error Recovery: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Implements synchronizing tokens (error ;) allowing the compiler to report errors and continue parsing subsequent statements without crashing.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Compiler Safety Flags: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--strict flag enforces zero-warning policy for critical builds.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Semantic Errors Caught &amp; Validated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1. Undeclared Identifiers: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Catches usage of variables before declaration in visible scopes.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2. Duplicate Declarations: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Flags redeclaring the same variable within the identical scope level.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3. Type Incompatibility: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Detects incompatible assignments (e.g. assigning float to int without cast).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4. Illegal Control Flow Jumps: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Flags break or continue invoked outside any enclosing loop or switch.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5. Case Value Duplication: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Ensures case constants within a switch statement are mutually distinct.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Build &amp; Automated Test Infrastructure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2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Automated Test Suite (13/13 Passed)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1: Slide 13 if-else statement trace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2: Slide 14 Short-circuit AND (&amp;&amp;) trace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3: Slides 15 &amp; 19 Nested while + if-else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4: For Loop with break and continue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5: Do-While Loop with break and continue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6: Switch-Case with default and fallthrough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7: Complex booleans (&amp;&amp;, ||, !)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8: Deeply nested control flow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9: Variable declarations &amp; type checks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10: Semantic error detection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11: Syntax error recovery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12: Optimization &amp; constant folding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• Test 13: Full C syntax with functions &amp; scopes (PASS)</a:t>
            </a:r>
            <a:endParaRPr sz="1000">
              <a:solidFill>
                <a:srgbClr val="0F172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Cross-Platform Build &amp; Verification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Test Runner: run_tests.py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Automated Python test harness verifying exit codes and 3AC outputs.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Multi-Platform Build System: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Makefile: Linux / WSL build via gcc, flex, bison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build.ps1: Windows PowerShell build script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- build.bat: Windows Command Prompt batch file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Verification Confidence: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100.0% regression pass rate across all 13 test suites, guaranteeing both historical trace accuracy and modern feature stability.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Conclusion &amp; Future Directions</a:t>
            </a:r>
            <a:endParaRPr b="1" sz="220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 txBox="1"/>
          <p:nvPr/>
        </p:nvSpPr>
        <p:spPr>
          <a:xfrm>
            <a:off x="444500" y="952500"/>
            <a:ext cx="4064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Key Project Achievements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444500" y="1371600"/>
            <a:ext cx="40641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Complete One-Pass ICG: Fully implements backpatching for all standard C control-flow constructs in linear O(n) time.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Zero-AST Variable Shadowing: Successfully isolates lexical scopes and shadows identifiers directly during LR reduction.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Flow-Typed CFG &amp; Web Visualizer: Generates modern partitioned basic block graphs with color-coded edge semantics and interactive HTML UI.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Coupled Optimizer: Optimizes 3AC while mathematically preserving jump target address integrity.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Verified Quality: 100% automated test coverage.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4762500" y="952500"/>
            <a:ext cx="3936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284C7"/>
                </a:solidFill>
                <a:latin typeface="Roboto"/>
                <a:ea typeface="Roboto"/>
                <a:cs typeface="Roboto"/>
                <a:sym typeface="Roboto"/>
              </a:rPr>
              <a:t>Future Research Extensions</a:t>
            </a:r>
            <a:endParaRPr b="1" sz="1300">
              <a:solidFill>
                <a:srgbClr val="0284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4762500" y="1371600"/>
            <a:ext cx="39369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Target Machine Code Generation: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Lowering optimized quadruples directly to x86-64, ARM64, or WebAssembly bytecode.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Static Single Assignment (SSA) Form: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Direct single-pass construction of SSA phi-functions from backpatched 3AC.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Interprocedural Data-Flow Optimizations: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Common Subexpression Elimination (CSE), copy propagation, and register allocation via graph coloring.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 Extended Type System: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Pointers, structs, unions, and multi-dimensional arrays.</a:t>
            </a:r>
            <a:endParaRPr sz="11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65D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/>
        </p:nvSpPr>
        <p:spPr>
          <a:xfrm>
            <a:off x="444500" y="254000"/>
            <a:ext cx="8255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Academic References (2018–2024)</a:t>
            </a:r>
            <a:endParaRPr b="1" sz="2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444500" y="787400"/>
            <a:ext cx="571500" cy="381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4"/>
          <p:cNvSpPr txBox="1"/>
          <p:nvPr/>
        </p:nvSpPr>
        <p:spPr>
          <a:xfrm>
            <a:off x="444500" y="952500"/>
            <a:ext cx="8255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[1] Haas, Rossberg, Schuff, Titzer, Holman, Gohman, Wagner, Zakai, &amp; Bastien. Bringing the Web up to Speed with WebAssembly &amp; Liftoff. ACM PLDI / Communications of the ACM, 2018–2023.</a:t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[2] Lattner, Amini, Bickerdike, et al. MLIR: Scaling Compiler Infrastructure for Domain Specific Computation. IEEE/ACM CGO, 2021 (Best Paper Award).</a:t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[3] Niu, Li, Ng, Lo, &amp; Luo. FAIR: Flow Type-Aware Pre-Training of Compiler Intermediate Representations. IEEE/ACM ICSE, 2024.</a:t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[4] Braun, Buchwald, Hack, Leißa, Mallon, &amp; Zwinkau. Simple and Efficient Construction of Static Single Assignment Form from Intermediate Code. Springer CC / Evaluated 2022.</a:t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[5] Theodoridis, Rigger, &amp; Su. Finding Missed Optimizations through the Lens of Dead Code Elimination. ACM ASPLOS, 2022.</a:t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[6] Beyond a Joke: Dead Code Elimination Can Delete Live Code (Xdead). IEEE/ACM ICSE-NIER, 2024.</a:t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[7] Cummins, Fisches, Ben-Nun, et al. Meta Large Language Model Compiler: Foundation Models of Compiler Optimization. arXiv:2407.02524, 2024.</a:t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[8] Aho, Lam, Sethi, &amp; Ullman. Compilers: Principles, Techniques, and Tools (Dragon Book), 2nd ed., Addison-Wesley, 2006.</a:t>
            </a:r>
            <a:endParaRPr sz="100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